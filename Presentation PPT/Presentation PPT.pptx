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7020A8-79D1-4FB3-AEF3-38DB3644C332}">
  <a:tblStyle styleId="{B97020A8-79D1-4FB3-AEF3-38DB3644C3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" name="Google Shape;4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6" name="Google Shape;25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1" name="Google Shape;30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4" name="Google Shape;344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8" name="Google Shape;39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B2A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138140" y="-756490"/>
            <a:ext cx="4206300" cy="4206300"/>
          </a:xfrm>
          <a:prstGeom prst="ellipse">
            <a:avLst/>
          </a:prstGeom>
          <a:solidFill>
            <a:srgbClr val="3433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4212200"/>
            <a:ext cx="2651400" cy="26457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8936200" y="3860125"/>
            <a:ext cx="3255900" cy="299790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 DEEP LEARNING PROJECT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822960" y="1874520"/>
            <a:ext cx="93268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GAN-Based Synthetic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Handwritten Digit Generation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 txBox="1"/>
          <p:nvPr/>
        </p:nvSpPr>
        <p:spPr>
          <a:xfrm>
            <a:off x="0" y="3449738"/>
            <a:ext cx="12192000" cy="52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500"/>
              <a:buFont typeface="Calibri"/>
              <a:buNone/>
            </a:pPr>
            <a:r>
              <a:rPr b="0" i="1" lang="en-US" sz="20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Training a Generative Adversarial Network to synthesise novel handwritten digits from the MNIST dataset.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4526280"/>
            <a:ext cx="7863840" cy="1417320"/>
          </a:xfrm>
          <a:prstGeom prst="roundRect">
            <a:avLst>
              <a:gd fmla="val 6452" name="adj"/>
            </a:avLst>
          </a:prstGeom>
          <a:solidFill>
            <a:srgbClr val="3433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3"/>
          <p:cNvSpPr txBox="1"/>
          <p:nvPr/>
        </p:nvSpPr>
        <p:spPr>
          <a:xfrm>
            <a:off x="1097280" y="4663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B8E8"/>
              </a:buClr>
              <a:buSzPts val="1050"/>
              <a:buFont typeface="Calibri"/>
              <a:buNone/>
            </a:pPr>
            <a:r>
              <a:rPr b="1" i="0" lang="en-US" sz="2000" u="none" cap="none" strike="noStrike">
                <a:solidFill>
                  <a:srgbClr val="A8B8E8"/>
                </a:solidFill>
                <a:latin typeface="Calibri"/>
                <a:ea typeface="Calibri"/>
                <a:cs typeface="Calibri"/>
                <a:sym typeface="Calibri"/>
              </a:rPr>
              <a:t>PROJECT TEAM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1097280" y="4956048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Amrith Saras     ·     Annabel Marianne Victor     ·     Diya Jothish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1097280" y="54406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200"/>
              <a:buFont typeface="Calibri"/>
              <a:buNone/>
            </a:pP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102903 / CO701B  Deep Learning</a:t>
            </a: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|</a:t>
            </a:r>
            <a:r>
              <a:rPr b="0" i="0" lang="en-US" sz="18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Rajagiri School of Engineering &amp; Technology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Problem Statement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01 · DEFINING THE CHALLENGE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48640" y="1600200"/>
            <a:ext cx="60350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63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Handwritten digit recognition is a well studied classification task with mature, high accuracy solutions.</a:t>
            </a:r>
            <a:endParaRPr i="1" sz="20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375" lvl="0" marL="177800" marR="0" rtl="0" algn="l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Generating realistic synthetic digits from random noise is a fundamentally different and harder problem: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model must learn the underlying data distribution, not just a decision boundary.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6375" lvl="0" marL="177800" marR="0" rtl="0" algn="l">
              <a:lnSpc>
                <a:spcPct val="108000"/>
              </a:lnSpc>
              <a:spcBef>
                <a:spcPts val="18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project implements a Generative Adversarial Network trained on MNIST to learn that distribution and produce novel, visually plausible handwritten digit images.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903720" y="1600200"/>
            <a:ext cx="4709160" cy="4480560"/>
          </a:xfrm>
          <a:prstGeom prst="roundRect">
            <a:avLst>
              <a:gd fmla="val 2041" name="adj"/>
            </a:avLst>
          </a:prstGeom>
          <a:solidFill>
            <a:srgbClr val="5D6FB0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real_samples.png" id="35" name="Google Shape;3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4052" y="1856232"/>
            <a:ext cx="3968496" cy="3968496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4"/>
          <p:cNvSpPr txBox="1"/>
          <p:nvPr/>
        </p:nvSpPr>
        <p:spPr>
          <a:xfrm>
            <a:off x="6903720" y="6108192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0" i="1" lang="en-US" sz="17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Real MNIST handwritten digits: the target distribution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Objectives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02 · WHAT WE SET OUT TO 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48640" y="160020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749808" y="205740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diagram_dark.png" id="48" name="Google Shape;4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5"/>
          <p:cNvSpPr txBox="1"/>
          <p:nvPr/>
        </p:nvSpPr>
        <p:spPr>
          <a:xfrm>
            <a:off x="1508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Understand the GAN framework: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he competing objectives of Generator and Discriminator.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6263640" y="160020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6464808" y="205740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layers_dark.png" id="52" name="Google Shape;5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178" y="213677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5"/>
          <p:cNvSpPr txBox="1"/>
          <p:nvPr/>
        </p:nvSpPr>
        <p:spPr>
          <a:xfrm>
            <a:off x="7223760" y="172821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 a GAN with two competing networks, trained end to end in PyTorch.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48640" y="324612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749808" y="370332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dataset_dark.png" id="56" name="Google Shape;5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9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5"/>
          <p:cNvSpPr txBox="1"/>
          <p:nvPr/>
        </p:nvSpPr>
        <p:spPr>
          <a:xfrm>
            <a:off x="1508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Train the model on the full MNIST dataset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all 60,000 greyscale handwritten digit images.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6263640" y="324612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464808" y="3703320"/>
            <a:ext cx="566928" cy="566928"/>
          </a:xfrm>
          <a:prstGeom prst="ellipse">
            <a:avLst/>
          </a:prstGeom>
          <a:solidFill>
            <a:srgbClr val="A8B8E8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images_dark.png" id="60" name="Google Shape;60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44178" y="378269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5"/>
          <p:cNvSpPr txBox="1"/>
          <p:nvPr/>
        </p:nvSpPr>
        <p:spPr>
          <a:xfrm>
            <a:off x="7223760" y="337413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Generate novel synthetic handwritten digits from random Gaussian noise.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489204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749808" y="5349240"/>
            <a:ext cx="566928" cy="566928"/>
          </a:xfrm>
          <a:prstGeom prst="ellipse">
            <a:avLst/>
          </a:prstGeom>
          <a:solidFill>
            <a:srgbClr val="F6C6C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chart_dark.png" id="64" name="Google Shape;64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29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5"/>
          <p:cNvSpPr txBox="1"/>
          <p:nvPr/>
        </p:nvSpPr>
        <p:spPr>
          <a:xfrm>
            <a:off x="1508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 generation quality through training dynamics and visual inspection.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263640" y="4892040"/>
            <a:ext cx="5349240" cy="1481328"/>
          </a:xfrm>
          <a:prstGeom prst="roundRect">
            <a:avLst>
              <a:gd fmla="val 5556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464808" y="5349240"/>
            <a:ext cx="566928" cy="566928"/>
          </a:xfrm>
          <a:prstGeom prst="ellipse">
            <a:avLst/>
          </a:prstGeom>
          <a:solidFill>
            <a:srgbClr val="BFE3D0"/>
          </a:solidFill>
          <a:ln>
            <a:noFill/>
          </a:ln>
          <a:effectLst>
            <a:outerShdw blurRad="101600" rotWithShape="0" algn="bl" dir="5400000" dist="25400">
              <a:srgbClr val="3A3A55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random_dark.png" id="68" name="Google Shape;68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44178" y="5428610"/>
            <a:ext cx="408188" cy="40818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5"/>
          <p:cNvSpPr txBox="1"/>
          <p:nvPr/>
        </p:nvSpPr>
        <p:spPr>
          <a:xfrm>
            <a:off x="7223760" y="5020056"/>
            <a:ext cx="4206240" cy="12252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Explore the learned latent space through interpolation between noise vectors.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/>
        </p:nvSpPr>
        <p:spPr>
          <a:xfrm>
            <a:off x="548652" y="457200"/>
            <a:ext cx="116433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The GAN Idea: Two Networks, One Contest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03 · BACKGROUND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4128516" y="1417320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4128516" y="1417320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Noise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 ~ N(0, I) 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100 dimensions)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5975604" y="1993392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"/>
          <p:cNvSpPr/>
          <p:nvPr/>
        </p:nvSpPr>
        <p:spPr>
          <a:xfrm>
            <a:off x="4128516" y="2258568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5D6FB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 txBox="1"/>
          <p:nvPr/>
        </p:nvSpPr>
        <p:spPr>
          <a:xfrm>
            <a:off x="4128516" y="2258568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 G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5975604" y="2834640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6"/>
          <p:cNvSpPr/>
          <p:nvPr/>
        </p:nvSpPr>
        <p:spPr>
          <a:xfrm>
            <a:off x="4128516" y="3099816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4128516" y="3099816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Synthetic Image</a:t>
            </a:r>
            <a:r>
              <a:rPr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G(z)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975604" y="3675888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6"/>
          <p:cNvSpPr/>
          <p:nvPr/>
        </p:nvSpPr>
        <p:spPr>
          <a:xfrm>
            <a:off x="4128516" y="3941064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D98A8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 txBox="1"/>
          <p:nvPr/>
        </p:nvSpPr>
        <p:spPr>
          <a:xfrm>
            <a:off x="4128516" y="3941064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 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5975604" y="4517136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128516" y="4782312"/>
            <a:ext cx="3931920" cy="512064"/>
          </a:xfrm>
          <a:prstGeom prst="roundRect">
            <a:avLst>
              <a:gd fmla="val 14286" name="adj"/>
            </a:avLst>
          </a:prstGeom>
          <a:solidFill>
            <a:srgbClr val="BFE3D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 txBox="1"/>
          <p:nvPr/>
        </p:nvSpPr>
        <p:spPr>
          <a:xfrm>
            <a:off x="4128516" y="4782312"/>
            <a:ext cx="3931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or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Fake? →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robability score</a:t>
            </a:r>
            <a:r>
              <a:rPr b="1" lang="en-US" sz="18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(0, 1)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471916" y="3941064"/>
            <a:ext cx="2331720" cy="512064"/>
          </a:xfrm>
          <a:prstGeom prst="roundRect">
            <a:avLst>
              <a:gd fmla="val 14286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 txBox="1"/>
          <p:nvPr/>
        </p:nvSpPr>
        <p:spPr>
          <a:xfrm>
            <a:off x="8471916" y="3941064"/>
            <a:ext cx="23317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Real MNIST Image</a:t>
            </a: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 rot="5400000">
            <a:off x="8087868" y="4087368"/>
            <a:ext cx="237744" cy="219456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822960" y="5641848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00"/>
              <a:buFont typeface="Cambria"/>
              <a:buNone/>
            </a:pPr>
            <a:r>
              <a:rPr b="0" i="1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objective:   min G max D   E[ log D(x) ]  +  E[ log(1 − D(G(z))) ]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50" y="6007600"/>
            <a:ext cx="1219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At Nash equilibrium, the Generator matches the real data distribution and D(x) approaches 0.5 for every input, so it can no longer tell real from generated.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Dataset: MNIST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r>
              <a:rPr b="1" lang="en-US" sz="2000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DESCRIPTION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7" name="Google Shape;107;p7"/>
          <p:cNvGraphicFramePr/>
          <p:nvPr/>
        </p:nvGraphicFramePr>
        <p:xfrm>
          <a:off x="548640" y="1691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1991475"/>
                <a:gridCol w="3888100"/>
              </a:tblGrid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Property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</a:tr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Name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MNIST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25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Source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torchvision.datasets.MNIST (auto-download)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614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Channels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(greyscale)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825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b="1"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Pixel normalisation</a:t>
                      </a:r>
                      <a:endParaRPr b="1"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300"/>
                        <a:buFont typeface="Calibri"/>
                        <a:buNone/>
                      </a:pPr>
                      <a:r>
                        <a:rPr i="1" lang="en-US" sz="20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[0, 1]  →  [-1, 1]</a:t>
                      </a:r>
                      <a:endParaRPr i="1" sz="20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7"/>
          <p:cNvSpPr/>
          <p:nvPr/>
        </p:nvSpPr>
        <p:spPr>
          <a:xfrm>
            <a:off x="6720840" y="1691640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922008" y="1892808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 txBox="1"/>
          <p:nvPr/>
        </p:nvSpPr>
        <p:spPr>
          <a:xfrm>
            <a:off x="6903720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60,000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 txBox="1"/>
          <p:nvPr/>
        </p:nvSpPr>
        <p:spPr>
          <a:xfrm>
            <a:off x="6903720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images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9345168" y="1691640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/>
          <p:nvPr/>
        </p:nvSpPr>
        <p:spPr>
          <a:xfrm>
            <a:off x="9546336" y="1892808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7"/>
          <p:cNvSpPr txBox="1"/>
          <p:nvPr/>
        </p:nvSpPr>
        <p:spPr>
          <a:xfrm>
            <a:off x="9528048" y="2075688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10,000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9528048" y="2834640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Test images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720840" y="3584448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/>
          <p:nvPr/>
        </p:nvSpPr>
        <p:spPr>
          <a:xfrm>
            <a:off x="6922008" y="3785616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"/>
          <p:cNvSpPr txBox="1"/>
          <p:nvPr/>
        </p:nvSpPr>
        <p:spPr>
          <a:xfrm>
            <a:off x="6903720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28 × 28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6903720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resolution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9345168" y="3584448"/>
            <a:ext cx="2331720" cy="1600200"/>
          </a:xfrm>
          <a:prstGeom prst="roundRect">
            <a:avLst>
              <a:gd fmla="val 5143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9546336" y="3785616"/>
            <a:ext cx="457200" cy="109728"/>
          </a:xfrm>
          <a:prstGeom prst="roundRect">
            <a:avLst>
              <a:gd fmla="val 50000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 txBox="1"/>
          <p:nvPr/>
        </p:nvSpPr>
        <p:spPr>
          <a:xfrm>
            <a:off x="9528048" y="3968496"/>
            <a:ext cx="19659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9528048" y="4727448"/>
            <a:ext cx="1965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0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Digit classes (0–9)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 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Preprocessing Pipeline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04 · DATA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548640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8"/>
          <p:cNvSpPr/>
          <p:nvPr/>
        </p:nvSpPr>
        <p:spPr>
          <a:xfrm>
            <a:off x="1536192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 txBox="1"/>
          <p:nvPr/>
        </p:nvSpPr>
        <p:spPr>
          <a:xfrm>
            <a:off x="1536192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3232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Load as Tensors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49808" y="3383280"/>
            <a:ext cx="20847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Images loaded via </a:t>
            </a:r>
            <a:r>
              <a:rPr b="0" i="0" lang="en-US" sz="12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torchvision.transforms.ToTensor()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 rot="-5400000">
            <a:off x="3054096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8"/>
          <p:cNvSpPr/>
          <p:nvPr/>
        </p:nvSpPr>
        <p:spPr>
          <a:xfrm>
            <a:off x="3255264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4242816" y="2240280"/>
            <a:ext cx="512064" cy="512064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4242816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3419856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Normalise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3456432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Pixel values rescaled from [0, 1] to [-1, 1] using Normalize([0.5],[0.5]) to match the Generator's Tanh output.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 rot="-5400000">
            <a:off x="5760720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5961888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6949440" y="2240280"/>
            <a:ext cx="512064" cy="512064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6949440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6126480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Batch &amp; Shuffle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 txBox="1"/>
          <p:nvPr/>
        </p:nvSpPr>
        <p:spPr>
          <a:xfrm>
            <a:off x="6163056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Batch size 128, data reshuffled every epoch for stable gradient estimates.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 rot="-5400000">
            <a:off x="8467344" y="3374136"/>
            <a:ext cx="182880" cy="20116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8668512" y="1965960"/>
            <a:ext cx="2487168" cy="3017520"/>
          </a:xfrm>
          <a:prstGeom prst="roundRect">
            <a:avLst>
              <a:gd fmla="val 3309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9656064" y="2240280"/>
            <a:ext cx="512064" cy="512064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9656064" y="2240280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 txBox="1"/>
          <p:nvPr/>
        </p:nvSpPr>
        <p:spPr>
          <a:xfrm>
            <a:off x="8833104" y="2926080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45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Augmentation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 txBox="1"/>
          <p:nvPr/>
        </p:nvSpPr>
        <p:spPr>
          <a:xfrm>
            <a:off x="8869680" y="3383280"/>
            <a:ext cx="2084832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MNIST is already large and class-balanced, so no augmentation was applied.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/>
          <p:nvPr/>
        </p:nvSpPr>
        <p:spPr>
          <a:xfrm>
            <a:off x="548651" y="457200"/>
            <a:ext cx="11091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Methodology: Why a Convolutional GAN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fmla="val 2128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822967" y="1783085"/>
            <a:ext cx="4572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Architecture choice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868675" y="2331725"/>
            <a:ext cx="4755000" cy="352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55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implementation uses a Deep Convolutional GAN (DCGAN): 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oth networks use convolutional layers instead of a stack of fully-connected ones.</a:t>
            </a:r>
            <a:endParaRPr b="0" i="1" sz="2000" u="none" cap="none" strike="noStrik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Transposed convolutions upsample in the Generator and strided convolutions downsample in the Discriminator, which exploits the spatial structure of images.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/>
          <p:nvPr/>
        </p:nvSpPr>
        <p:spPr>
          <a:xfrm>
            <a:off x="5989320" y="1691640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69" name="Google Shape;169;p9"/>
          <p:cNvSpPr/>
          <p:nvPr/>
        </p:nvSpPr>
        <p:spPr>
          <a:xfrm>
            <a:off x="6172200" y="2009394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0" name="Google Shape;170;p9"/>
          <p:cNvSpPr txBox="1"/>
          <p:nvPr/>
        </p:nvSpPr>
        <p:spPr>
          <a:xfrm>
            <a:off x="6720840" y="178308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LeakyReLU (slope 0.2)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 txBox="1"/>
          <p:nvPr/>
        </p:nvSpPr>
        <p:spPr>
          <a:xfrm>
            <a:off x="6720840" y="2093976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Used in the Discriminator hidden layers; the Generator uses ReLU. Avoids dead neurons from plain ReLU.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5989320" y="2802636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3" name="Google Shape;173;p9"/>
          <p:cNvSpPr/>
          <p:nvPr/>
        </p:nvSpPr>
        <p:spPr>
          <a:xfrm>
            <a:off x="6172200" y="3120390"/>
            <a:ext cx="402336" cy="402336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4" name="Google Shape;174;p9"/>
          <p:cNvSpPr txBox="1"/>
          <p:nvPr/>
        </p:nvSpPr>
        <p:spPr>
          <a:xfrm>
            <a:off x="6720840" y="2894076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Tanh at Generator output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 txBox="1"/>
          <p:nvPr/>
        </p:nvSpPr>
        <p:spPr>
          <a:xfrm>
            <a:off x="6720840" y="3204972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Squashes pixel values to [-1, 1], matching the normalised input images.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5989320" y="3913632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7" name="Google Shape;177;p9"/>
          <p:cNvSpPr/>
          <p:nvPr/>
        </p:nvSpPr>
        <p:spPr>
          <a:xfrm>
            <a:off x="6172200" y="4231386"/>
            <a:ext cx="402336" cy="402336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78" name="Google Shape;178;p9"/>
          <p:cNvSpPr txBox="1"/>
          <p:nvPr/>
        </p:nvSpPr>
        <p:spPr>
          <a:xfrm>
            <a:off x="6720840" y="4005072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Sigmoid at Discriminator output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6720840" y="4315968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Produces a clean probability in (0, 1) for the real / fake decision.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5989320" y="5024628"/>
            <a:ext cx="5650992" cy="1037844"/>
          </a:xfrm>
          <a:prstGeom prst="roundRect">
            <a:avLst>
              <a:gd fmla="val 7048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81" name="Google Shape;181;p9"/>
          <p:cNvSpPr/>
          <p:nvPr/>
        </p:nvSpPr>
        <p:spPr>
          <a:xfrm>
            <a:off x="6172200" y="5342382"/>
            <a:ext cx="402336" cy="402336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1500"/>
          </a:p>
        </p:txBody>
      </p:sp>
      <p:sp>
        <p:nvSpPr>
          <p:cNvPr id="182" name="Google Shape;182;p9"/>
          <p:cNvSpPr txBox="1"/>
          <p:nvPr/>
        </p:nvSpPr>
        <p:spPr>
          <a:xfrm>
            <a:off x="6720840" y="5116068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BatchNorm in both networks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 txBox="1"/>
          <p:nvPr/>
        </p:nvSpPr>
        <p:spPr>
          <a:xfrm>
            <a:off x="6720840" y="5426964"/>
            <a:ext cx="4754880" cy="534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Applied after each convolutional layer, except the Generator output and Discriminator input.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Generator Architecture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4494276" y="1298448"/>
            <a:ext cx="32004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4" name="Google Shape;194;p10"/>
          <p:cNvSpPr txBox="1"/>
          <p:nvPr/>
        </p:nvSpPr>
        <p:spPr>
          <a:xfrm>
            <a:off x="4494276" y="12984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Noise vector  z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(100,)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6" name="Google Shape;196;p10"/>
          <p:cNvSpPr/>
          <p:nvPr/>
        </p:nvSpPr>
        <p:spPr>
          <a:xfrm>
            <a:off x="3991356" y="1906524"/>
            <a:ext cx="420624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7" name="Google Shape;197;p10"/>
          <p:cNvSpPr txBox="1"/>
          <p:nvPr/>
        </p:nvSpPr>
        <p:spPr>
          <a:xfrm>
            <a:off x="3991356" y="1906524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Linear(100 → 256×7×7) + BN + ReLU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199" name="Google Shape;199;p10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0" name="Google Shape;200;p10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Reshape → feature map (256, 7, 7)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2" name="Google Shape;202;p10"/>
          <p:cNvSpPr/>
          <p:nvPr/>
        </p:nvSpPr>
        <p:spPr>
          <a:xfrm>
            <a:off x="2894076" y="3122676"/>
            <a:ext cx="64008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3" name="Google Shape;203;p10"/>
          <p:cNvSpPr txBox="1"/>
          <p:nvPr/>
        </p:nvSpPr>
        <p:spPr>
          <a:xfrm>
            <a:off x="2894076" y="3122676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ConvTranspose(256→128) + BN + ReLU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5" name="Google Shape;205;p10"/>
          <p:cNvSpPr/>
          <p:nvPr/>
        </p:nvSpPr>
        <p:spPr>
          <a:xfrm>
            <a:off x="2345436" y="3730752"/>
            <a:ext cx="749808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6" name="Google Shape;206;p10"/>
          <p:cNvSpPr txBox="1"/>
          <p:nvPr/>
        </p:nvSpPr>
        <p:spPr>
          <a:xfrm>
            <a:off x="2345436" y="3730752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ConvTranspose(128→64) + BN + ReLU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0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8" name="Google Shape;208;p10"/>
          <p:cNvSpPr/>
          <p:nvPr/>
        </p:nvSpPr>
        <p:spPr>
          <a:xfrm>
            <a:off x="3808476" y="4338828"/>
            <a:ext cx="4572000" cy="475488"/>
          </a:xfrm>
          <a:prstGeom prst="roundRect">
            <a:avLst>
              <a:gd fmla="val 13462" name="adj"/>
            </a:avLst>
          </a:prstGeom>
          <a:solidFill>
            <a:srgbClr val="5D6FB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09" name="Google Shape;209;p10"/>
          <p:cNvSpPr txBox="1"/>
          <p:nvPr/>
        </p:nvSpPr>
        <p:spPr>
          <a:xfrm>
            <a:off x="3808476" y="4338828"/>
            <a:ext cx="45720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Conv(64→1) + Tanh → (1, 28, 28)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fmla="val 50000" name="adj"/>
            </a:avLst>
          </a:prstGeom>
          <a:solidFill>
            <a:srgbClr val="5D6F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/>
          </a:p>
        </p:txBody>
      </p:sp>
      <p:sp>
        <p:nvSpPr>
          <p:cNvPr id="211" name="Google Shape;211;p10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Generator parameters: 1,935,808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Discriminator Architecture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05 · METHODOLOGY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2345436" y="1298448"/>
            <a:ext cx="749808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1"/>
          <p:cNvSpPr txBox="1"/>
          <p:nvPr/>
        </p:nvSpPr>
        <p:spPr>
          <a:xfrm>
            <a:off x="2345436" y="1298448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Input: Image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(1, 28, 28)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5993892" y="1815084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2894076" y="1906524"/>
            <a:ext cx="64008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1"/>
          <p:cNvSpPr txBox="1"/>
          <p:nvPr/>
        </p:nvSpPr>
        <p:spPr>
          <a:xfrm>
            <a:off x="2894076" y="1906524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Conv(1→64) + LeakyReLU(0.2)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5993892" y="2423160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"/>
          <p:cNvSpPr/>
          <p:nvPr/>
        </p:nvSpPr>
        <p:spPr>
          <a:xfrm>
            <a:off x="3442716" y="2514600"/>
            <a:ext cx="530352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3442716" y="2514600"/>
            <a:ext cx="53035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Conv(64→128) + BN + LeakyReLU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5993892" y="3031236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3991356" y="3122676"/>
            <a:ext cx="420624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1"/>
          <p:cNvSpPr txBox="1"/>
          <p:nvPr/>
        </p:nvSpPr>
        <p:spPr>
          <a:xfrm>
            <a:off x="3991356" y="3122676"/>
            <a:ext cx="42062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Conv(128→256) + BN + LeakyReLU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5993892" y="3639312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1"/>
          <p:cNvSpPr/>
          <p:nvPr/>
        </p:nvSpPr>
        <p:spPr>
          <a:xfrm>
            <a:off x="4494276" y="3730752"/>
            <a:ext cx="3200400" cy="475488"/>
          </a:xfrm>
          <a:prstGeom prst="roundRect">
            <a:avLst>
              <a:gd fmla="val 13462" name="adj"/>
            </a:avLst>
          </a:prstGeom>
          <a:solidFill>
            <a:srgbClr val="FFFFFF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4494276" y="3730752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Linear(2304→1) + Sigmoid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5993892" y="4247388"/>
            <a:ext cx="201168" cy="18288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6E6E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1"/>
          <p:cNvSpPr/>
          <p:nvPr/>
        </p:nvSpPr>
        <p:spPr>
          <a:xfrm>
            <a:off x="4082796" y="4338828"/>
            <a:ext cx="4023360" cy="475488"/>
          </a:xfrm>
          <a:prstGeom prst="roundRect">
            <a:avLst>
              <a:gd fmla="val 13462" name="adj"/>
            </a:avLst>
          </a:prstGeom>
          <a:solidFill>
            <a:srgbClr val="D98A80"/>
          </a:solidFill>
          <a:ln>
            <a:noFill/>
          </a:ln>
          <a:effectLst>
            <a:outerShdw blurRad="762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1"/>
          <p:cNvSpPr txBox="1"/>
          <p:nvPr/>
        </p:nvSpPr>
        <p:spPr>
          <a:xfrm>
            <a:off x="4082796" y="4338828"/>
            <a:ext cx="4023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Output:</a:t>
            </a: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P(real) ∈ (0, 1)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4174236" y="5134356"/>
            <a:ext cx="3840480" cy="438912"/>
          </a:xfrm>
          <a:prstGeom prst="roundRect">
            <a:avLst>
              <a:gd fmla="val 50000" name="adj"/>
            </a:avLst>
          </a:prstGeom>
          <a:solidFill>
            <a:srgbClr val="5D6F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1"/>
          <p:cNvSpPr txBox="1"/>
          <p:nvPr/>
        </p:nvSpPr>
        <p:spPr>
          <a:xfrm>
            <a:off x="4174236" y="5134356"/>
            <a:ext cx="384048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Discriminator parameters:  659,457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Implementation &amp; Training Setup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2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06 · IMPLEMENTATION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9" name="Google Shape;249;p12"/>
          <p:cNvGraphicFramePr/>
          <p:nvPr/>
        </p:nvGraphicFramePr>
        <p:xfrm>
          <a:off x="548640" y="16916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{B97020A8-79D1-4FB3-AEF3-38DB3644C332}</a:tableStyleId>
              </a:tblPr>
              <a:tblGrid>
                <a:gridCol w="2103125"/>
                <a:gridCol w="347472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Component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50"/>
                        <a:buFont typeface="Calibri"/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Detail</a:t>
                      </a:r>
                      <a:endParaRPr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D6FB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Framework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PyTorch 2.11.0+cu128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Hardware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NVIDIA GeForce RTX 3050 Laptop GPU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Optimiser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Adam (lr = 0.0002, betas 0.5/0.999)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Loss function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Binary Cross-Entropy (BCELoss)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Epochs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Batch size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128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1F2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b="1"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Latent dimension</a:t>
                      </a:r>
                      <a:endParaRPr b="1"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E2E3A"/>
                        </a:buClr>
                        <a:buSzPts val="1250"/>
                        <a:buFont typeface="Calibri"/>
                        <a:buNone/>
                      </a:pPr>
                      <a:r>
                        <a:rPr i="1" lang="en-US" sz="1500" u="none" cap="none" strike="noStrike">
                          <a:solidFill>
                            <a:srgbClr val="2E2E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i="1" sz="15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76200" marB="76200" marR="127000" marL="127000" anchor="ctr">
                    <a:lnL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4E4E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Google Shape;250;p12"/>
          <p:cNvSpPr txBox="1"/>
          <p:nvPr/>
        </p:nvSpPr>
        <p:spPr>
          <a:xfrm>
            <a:off x="6446520" y="169164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3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Training design choices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6446520" y="2103120"/>
            <a:ext cx="525780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90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Independent Adam optimisers for G and D, so each network updates from its own gradient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fake_imgs.detach() is used when computing the Discriminator's loss, which stops gradients flowing back into G during D's update step.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fixed 64-sample noise vector was reused every epoch, so generated samples could be compared side by side as training progressed.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4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Sample grids saved every 5 epochs</a:t>
            </a:r>
            <a:r>
              <a:rPr i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random seed fixed at 42 for reproducibility.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Training Dynamics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548640" y="1417320"/>
            <a:ext cx="11091672" cy="3703320"/>
          </a:xfrm>
          <a:prstGeom prst="roundRect">
            <a:avLst>
              <a:gd fmla="val 2469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training_curves.png" id="262" name="Google Shape;26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7924" y="1691640"/>
            <a:ext cx="8833104" cy="31546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3"/>
          <p:cNvSpPr txBox="1"/>
          <p:nvPr/>
        </p:nvSpPr>
        <p:spPr>
          <a:xfrm>
            <a:off x="548640" y="5285232"/>
            <a:ext cx="11091672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936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Over 50 epochs the discriminator held a consistent edge: </a:t>
            </a:r>
            <a:r>
              <a:rPr i="1"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ts confidence on real images rose from about 0.78 toward 0.87, while its confidence on generated images fell from about 0.23 toward 0.13.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93675" lvl="0" marL="177800" marR="0" rtl="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1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pattern is common when training a DCGAN on MNIST, and it did not stop the generator from producing recognisable digits, as the following slides show.</a:t>
            </a:r>
            <a:endParaRPr b="0" i="1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Generation Quality Across Training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4"/>
          <p:cNvSpPr/>
          <p:nvPr/>
        </p:nvSpPr>
        <p:spPr>
          <a:xfrm>
            <a:off x="548640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01.png" id="274" name="Google Shape;2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4944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4"/>
          <p:cNvSpPr txBox="1"/>
          <p:nvPr/>
        </p:nvSpPr>
        <p:spPr>
          <a:xfrm>
            <a:off x="548640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1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548640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Thick, blobby, often malformed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4"/>
          <p:cNvSpPr/>
          <p:nvPr/>
        </p:nvSpPr>
        <p:spPr>
          <a:xfrm>
            <a:off x="4334256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25.png" id="278" name="Google Shape;27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0560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4"/>
          <p:cNvSpPr txBox="1"/>
          <p:nvPr/>
        </p:nvSpPr>
        <p:spPr>
          <a:xfrm>
            <a:off x="4334256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25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4"/>
          <p:cNvSpPr txBox="1"/>
          <p:nvPr/>
        </p:nvSpPr>
        <p:spPr>
          <a:xfrm>
            <a:off x="4334256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Rough digit-like shapes emerging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19872" y="1463040"/>
            <a:ext cx="3520440" cy="3520440"/>
          </a:xfrm>
          <a:prstGeom prst="roundRect">
            <a:avLst>
              <a:gd fmla="val 2597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epoch_050.png" id="282" name="Google Shape;28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266176" y="1609344"/>
            <a:ext cx="3227832" cy="3227832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14"/>
          <p:cNvSpPr txBox="1"/>
          <p:nvPr/>
        </p:nvSpPr>
        <p:spPr>
          <a:xfrm>
            <a:off x="8119872" y="5093208"/>
            <a:ext cx="35204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50"/>
              <a:buFont typeface="Calibri"/>
              <a:buNone/>
            </a:pPr>
            <a:r>
              <a:rPr b="1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 50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 txBox="1"/>
          <p:nvPr/>
        </p:nvSpPr>
        <p:spPr>
          <a:xfrm>
            <a:off x="8119872" y="5404104"/>
            <a:ext cx="3520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00"/>
              <a:buFont typeface="Calibri"/>
              <a:buNone/>
            </a:pPr>
            <a:r>
              <a:rPr b="1" i="0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Recognisable digits across classes</a:t>
            </a:r>
            <a:endParaRPr b="1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4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5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Real vs Generated Digits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5"/>
          <p:cNvSpPr/>
          <p:nvPr/>
        </p:nvSpPr>
        <p:spPr>
          <a:xfrm>
            <a:off x="1883664" y="1417320"/>
            <a:ext cx="8412480" cy="4206240"/>
          </a:xfrm>
          <a:prstGeom prst="roundRect">
            <a:avLst>
              <a:gd fmla="val 2174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real_vs_fake.png" id="295" name="Google Shape;2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32304" y="1691640"/>
            <a:ext cx="7315200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5"/>
          <p:cNvSpPr txBox="1"/>
          <p:nvPr/>
        </p:nvSpPr>
        <p:spPr>
          <a:xfrm>
            <a:off x="1280160" y="5760720"/>
            <a:ext cx="9601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250"/>
              <a:buFont typeface="Calibri"/>
              <a:buNone/>
            </a:pPr>
            <a:r>
              <a:rPr b="0" i="1" lang="en-US" sz="15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Generated digits are visually plausible across most classes, with occasional uneven strokes. The Discriminator still separates real from generated with high confidence at the end of training.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5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6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Latent Space Interpolation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1280160" y="1920240"/>
            <a:ext cx="9601200" cy="1417320"/>
          </a:xfrm>
          <a:prstGeom prst="roundRect">
            <a:avLst>
              <a:gd fmla="val 6452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latent_interpolation.png" id="307" name="Google Shape;30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74570" y="2121408"/>
            <a:ext cx="7612380" cy="101498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16"/>
          <p:cNvSpPr/>
          <p:nvPr/>
        </p:nvSpPr>
        <p:spPr>
          <a:xfrm>
            <a:off x="4174236" y="3611880"/>
            <a:ext cx="3840480" cy="420624"/>
          </a:xfrm>
          <a:prstGeom prst="roundRect">
            <a:avLst>
              <a:gd fmla="val 50000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6"/>
          <p:cNvSpPr txBox="1"/>
          <p:nvPr/>
        </p:nvSpPr>
        <p:spPr>
          <a:xfrm>
            <a:off x="4174236" y="3611880"/>
            <a:ext cx="38404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1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10 interpolation steps</a:t>
            </a:r>
            <a:r>
              <a:rPr b="1" lang="en-US" sz="20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z₁ → z₂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 txBox="1"/>
          <p:nvPr/>
        </p:nvSpPr>
        <p:spPr>
          <a:xfrm>
            <a:off x="1463040" y="4434840"/>
            <a:ext cx="92354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5900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Interpolating between two random noise vectors z₁ and z₂ produces a smooth, continuous sequence of plausible digit shapes rather than an abrupt jump.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5900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This is evidence that the Generator learned a structured latent space, instead of simply memorising individual training examples.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7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100 Digits Generated From Noise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07 · RESULTS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685800" y="1463040"/>
            <a:ext cx="4709160" cy="4709160"/>
          </a:xfrm>
          <a:prstGeom prst="roundRect">
            <a:avLst>
              <a:gd fmla="val 1942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38100">
              <a:srgbClr val="3A3A55">
                <a:alpha val="1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assets/final_generated_100.png" id="321" name="Google Shape;3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0392" y="1627632"/>
            <a:ext cx="4379976" cy="4379976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7"/>
          <p:cNvSpPr txBox="1"/>
          <p:nvPr/>
        </p:nvSpPr>
        <p:spPr>
          <a:xfrm>
            <a:off x="5852160" y="2286000"/>
            <a:ext cx="5760720" cy="3474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9550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representative spread across all ten digit classes (0–9), generated purely from random noise.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marR="0" rtl="0" algn="l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Some classes appear more often than others, a mild imbalance rather than full mode collapse.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9550" lvl="0" marL="177800" marR="0" rtl="0" algn="l">
              <a:lnSpc>
                <a:spcPct val="108000"/>
              </a:lnSpc>
              <a:spcBef>
                <a:spcPts val="20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 few ambiguous shapes remain, with occasional uneven stroke thickness.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Analysis &amp; Interpretation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8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08 · ANALYSIS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548640" y="1600200"/>
            <a:ext cx="5349240" cy="4617720"/>
          </a:xfrm>
          <a:prstGeom prst="roundRect">
            <a:avLst>
              <a:gd fmla="val 1980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3" name="Google Shape;333;p18"/>
          <p:cNvSpPr/>
          <p:nvPr/>
        </p:nvSpPr>
        <p:spPr>
          <a:xfrm>
            <a:off x="822960" y="1874520"/>
            <a:ext cx="411480" cy="41148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4" name="Google Shape;334;p18"/>
          <p:cNvSpPr txBox="1"/>
          <p:nvPr/>
        </p:nvSpPr>
        <p:spPr>
          <a:xfrm>
            <a:off x="137160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b="1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What Worked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8"/>
          <p:cNvSpPr txBox="1"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907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Digit-like structure emerged by epoch 10–15 and became clearly recognisable by epoch 50, across multiple classes.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Latent space interpolation confirmed a smooth, continuous internal representation rather than memorisation.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9075" lvl="0" marL="177800" marR="0" rtl="0" algn="l">
              <a:lnSpc>
                <a:spcPct val="108000"/>
              </a:lnSpc>
              <a:spcBef>
                <a:spcPts val="1600"/>
              </a:spcBef>
              <a:spcAft>
                <a:spcPts val="0"/>
              </a:spcAft>
              <a:buClr>
                <a:srgbClr val="2E2E3A"/>
              </a:buClr>
              <a:buSzPts val="2000"/>
              <a:buFont typeface="Calibri"/>
              <a:buChar char="●"/>
            </a:pPr>
            <a:r>
              <a:rPr b="0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adversarial setup trained end to end without fully collapsing, and the generator kept improving throughout.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6080760" y="1600200"/>
            <a:ext cx="5349240" cy="4617720"/>
          </a:xfrm>
          <a:prstGeom prst="roundRect">
            <a:avLst>
              <a:gd fmla="val 1980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7" name="Google Shape;337;p18"/>
          <p:cNvSpPr/>
          <p:nvPr/>
        </p:nvSpPr>
        <p:spPr>
          <a:xfrm>
            <a:off x="6355080" y="1874520"/>
            <a:ext cx="411480" cy="4114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000"/>
          </a:p>
        </p:txBody>
      </p:sp>
      <p:sp>
        <p:nvSpPr>
          <p:cNvPr id="338" name="Google Shape;338;p18"/>
          <p:cNvSpPr txBox="1"/>
          <p:nvPr/>
        </p:nvSpPr>
        <p:spPr>
          <a:xfrm>
            <a:off x="6903720" y="1874520"/>
            <a:ext cx="4251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00"/>
              <a:buFont typeface="Calibri"/>
              <a:buNone/>
            </a:pPr>
            <a:r>
              <a:rPr b="1" i="1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0" i="1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8"/>
          <p:cNvSpPr txBox="1"/>
          <p:nvPr/>
        </p:nvSpPr>
        <p:spPr>
          <a:xfrm>
            <a:off x="6400800" y="2514600"/>
            <a:ext cx="4709160" cy="3520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1272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quantitative FID (Fréchet Inception Distance) score was computed, due to compute constraints.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The discriminator kept a persistent edge rather than settling near the theoretical 0.5 equilibrium.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Minor artefacts remain in stroke thickness compared with real MNIST samples.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12725" lvl="0" marL="177800" marR="0" rtl="0" algn="l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libri"/>
              <a:buChar char="●"/>
            </a:pPr>
            <a:r>
              <a:rPr b="0" i="1" lang="en-US" sz="18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No class conditioning: the model cannot yet be asked to generate one specific digit.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8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9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Conclusion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09 · CONCLUSION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822960" y="1691640"/>
            <a:ext cx="10515600" cy="2423160"/>
          </a:xfrm>
          <a:prstGeom prst="roundRect">
            <a:avLst>
              <a:gd fmla="val 4528" name="adj"/>
            </a:avLst>
          </a:prstGeom>
          <a:solidFill>
            <a:srgbClr val="FFFFFF"/>
          </a:solidFill>
          <a:ln>
            <a:noFill/>
          </a:ln>
          <a:effectLst>
            <a:outerShdw blurRad="1270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 txBox="1"/>
          <p:nvPr/>
        </p:nvSpPr>
        <p:spPr>
          <a:xfrm>
            <a:off x="1188720" y="1965960"/>
            <a:ext cx="97840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650"/>
              <a:buFont typeface="Cambria"/>
              <a:buNone/>
            </a:pPr>
            <a:r>
              <a:rPr b="0" i="1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 Deep Convolutional GAN (DCGAN) was implemented and trained on MNIST for 50 epochs, learning to generate visually plausible handwritten digits from 100-dimensional Gaussian noise across all ten digit classes. Latent space interpolation confirmed the model learned a smooth, structured internal representation rather than memorising the training set. The project validates the core GAN principle: two competing networks, trained together, can produce a working generative model.</a:t>
            </a:r>
            <a:endParaRPr b="0" i="1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65379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 txBox="1"/>
          <p:nvPr/>
        </p:nvSpPr>
        <p:spPr>
          <a:xfrm>
            <a:off x="65379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9"/>
          <p:cNvSpPr txBox="1"/>
          <p:nvPr/>
        </p:nvSpPr>
        <p:spPr>
          <a:xfrm>
            <a:off x="65379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Epochs trained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440283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 txBox="1"/>
          <p:nvPr/>
        </p:nvSpPr>
        <p:spPr>
          <a:xfrm>
            <a:off x="440283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1.94M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 txBox="1"/>
          <p:nvPr/>
        </p:nvSpPr>
        <p:spPr>
          <a:xfrm>
            <a:off x="440283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Generator parameters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8151876" y="4480560"/>
            <a:ext cx="3383280" cy="1371600"/>
          </a:xfrm>
          <a:prstGeom prst="roundRect">
            <a:avLst>
              <a:gd fmla="val 6667" name="adj"/>
            </a:avLst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 txBox="1"/>
          <p:nvPr/>
        </p:nvSpPr>
        <p:spPr>
          <a:xfrm>
            <a:off x="8151876" y="46177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2600"/>
              <a:buFont typeface="Cambria"/>
              <a:buNone/>
            </a:pPr>
            <a:r>
              <a:rPr b="1" i="0" lang="en-US" sz="26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10 / 10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 txBox="1"/>
          <p:nvPr/>
        </p:nvSpPr>
        <p:spPr>
          <a:xfrm>
            <a:off x="8151876" y="5303520"/>
            <a:ext cx="3383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Digit classes represented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9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0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Future Scope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10 · WHAT'S NEXT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0"/>
          <p:cNvSpPr/>
          <p:nvPr/>
        </p:nvSpPr>
        <p:spPr>
          <a:xfrm>
            <a:off x="548640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70" name="Google Shape;370;p20"/>
          <p:cNvSpPr/>
          <p:nvPr/>
        </p:nvSpPr>
        <p:spPr>
          <a:xfrm>
            <a:off x="1353312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0"/>
          <p:cNvSpPr txBox="1"/>
          <p:nvPr/>
        </p:nvSpPr>
        <p:spPr>
          <a:xfrm>
            <a:off x="1353312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676656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Conditional GAN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3232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Condition on the digit class label to generate a specific digit on demand.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0"/>
          <p:cNvSpPr/>
          <p:nvPr/>
        </p:nvSpPr>
        <p:spPr>
          <a:xfrm>
            <a:off x="2779776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75" name="Google Shape;375;p20"/>
          <p:cNvSpPr/>
          <p:nvPr/>
        </p:nvSpPr>
        <p:spPr>
          <a:xfrm>
            <a:off x="3584448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0"/>
          <p:cNvSpPr txBox="1"/>
          <p:nvPr/>
        </p:nvSpPr>
        <p:spPr>
          <a:xfrm>
            <a:off x="3584448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 txBox="1"/>
          <p:nvPr/>
        </p:nvSpPr>
        <p:spPr>
          <a:xfrm>
            <a:off x="2907792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Wasserstein GAN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0"/>
          <p:cNvSpPr txBox="1"/>
          <p:nvPr/>
        </p:nvSpPr>
        <p:spPr>
          <a:xfrm>
            <a:off x="2944368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the Wasserstein distance for more stable training and convergence.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0"/>
          <p:cNvSpPr/>
          <p:nvPr/>
        </p:nvSpPr>
        <p:spPr>
          <a:xfrm>
            <a:off x="5010912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80" name="Google Shape;380;p20"/>
          <p:cNvSpPr/>
          <p:nvPr/>
        </p:nvSpPr>
        <p:spPr>
          <a:xfrm>
            <a:off x="5815584" y="1947672"/>
            <a:ext cx="475488" cy="475488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20"/>
          <p:cNvSpPr txBox="1"/>
          <p:nvPr/>
        </p:nvSpPr>
        <p:spPr>
          <a:xfrm>
            <a:off x="5815584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20"/>
          <p:cNvSpPr txBox="1"/>
          <p:nvPr/>
        </p:nvSpPr>
        <p:spPr>
          <a:xfrm>
            <a:off x="5138928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FID Score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0"/>
          <p:cNvSpPr txBox="1"/>
          <p:nvPr/>
        </p:nvSpPr>
        <p:spPr>
          <a:xfrm>
            <a:off x="5175504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Compute Fréchet Inception Distance for quantitative quality benchmarking.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7242048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85" name="Google Shape;385;p20"/>
          <p:cNvSpPr/>
          <p:nvPr/>
        </p:nvSpPr>
        <p:spPr>
          <a:xfrm>
            <a:off x="8046720" y="1947672"/>
            <a:ext cx="475488" cy="475488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20"/>
          <p:cNvSpPr txBox="1"/>
          <p:nvPr/>
        </p:nvSpPr>
        <p:spPr>
          <a:xfrm>
            <a:off x="8046720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0"/>
          <p:cNvSpPr txBox="1"/>
          <p:nvPr/>
        </p:nvSpPr>
        <p:spPr>
          <a:xfrm>
            <a:off x="7370064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Label Smoothing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0"/>
          <p:cNvSpPr txBox="1"/>
          <p:nvPr/>
        </p:nvSpPr>
        <p:spPr>
          <a:xfrm>
            <a:off x="7406640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Smooth real labels or slow the Discriminator to rebalance training.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0"/>
          <p:cNvSpPr/>
          <p:nvPr/>
        </p:nvSpPr>
        <p:spPr>
          <a:xfrm>
            <a:off x="9473184" y="1691640"/>
            <a:ext cx="2084832" cy="4206240"/>
          </a:xfrm>
          <a:prstGeom prst="roundRect">
            <a:avLst>
              <a:gd fmla="val 3947" name="adj"/>
            </a:avLst>
          </a:prstGeom>
          <a:solidFill>
            <a:srgbClr val="FFFFFF"/>
          </a:solidFill>
          <a:ln>
            <a:noFill/>
          </a:ln>
          <a:effectLst>
            <a:outerShdw blurRad="101600" rotWithShape="0" algn="bl" dir="5400000" dist="25400">
              <a:srgbClr val="3A3A55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sp>
        <p:nvSpPr>
          <p:cNvPr id="390" name="Google Shape;390;p20"/>
          <p:cNvSpPr/>
          <p:nvPr/>
        </p:nvSpPr>
        <p:spPr>
          <a:xfrm>
            <a:off x="10277856" y="1947672"/>
            <a:ext cx="475488" cy="475488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0"/>
          <p:cNvSpPr txBox="1"/>
          <p:nvPr/>
        </p:nvSpPr>
        <p:spPr>
          <a:xfrm>
            <a:off x="10277856" y="19476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0"/>
          <p:cNvSpPr txBox="1"/>
          <p:nvPr/>
        </p:nvSpPr>
        <p:spPr>
          <a:xfrm>
            <a:off x="9601200" y="2606040"/>
            <a:ext cx="1828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Data Augmentation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0"/>
          <p:cNvSpPr txBox="1"/>
          <p:nvPr/>
        </p:nvSpPr>
        <p:spPr>
          <a:xfrm>
            <a:off x="9637776" y="3291840"/>
            <a:ext cx="1755648" cy="2377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050"/>
              <a:buFont typeface="Calibri"/>
              <a:buNone/>
            </a:pPr>
            <a:r>
              <a:rPr b="1" i="0" lang="en-US" sz="18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Use generated digits to augment classifiers trained on imbalanced data.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0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0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C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1"/>
          <p:cNvSpPr txBox="1"/>
          <p:nvPr/>
        </p:nvSpPr>
        <p:spPr>
          <a:xfrm>
            <a:off x="548640" y="457200"/>
            <a:ext cx="9692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3000"/>
              <a:buFont typeface="Cambria"/>
              <a:buNone/>
            </a:pPr>
            <a:r>
              <a:rPr b="1" i="0" lang="en-US" sz="45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Individual Contributions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1"/>
          <p:cNvSpPr txBox="1"/>
          <p:nvPr/>
        </p:nvSpPr>
        <p:spPr>
          <a:xfrm>
            <a:off x="566928" y="256032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1150"/>
              <a:buFont typeface="Calibri"/>
              <a:buNone/>
            </a:pPr>
            <a:r>
              <a:rPr b="1" i="0" lang="en-US" sz="20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11 · TEAM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548640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1"/>
          <p:cNvSpPr/>
          <p:nvPr/>
        </p:nvSpPr>
        <p:spPr>
          <a:xfrm>
            <a:off x="841248" y="1892808"/>
            <a:ext cx="640200" cy="640200"/>
          </a:xfrm>
          <a:prstGeom prst="ellipse">
            <a:avLst/>
          </a:prstGeom>
          <a:solidFill>
            <a:srgbClr val="BFE3D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05" name="Google Shape;4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5840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1"/>
          <p:cNvSpPr txBox="1"/>
          <p:nvPr/>
        </p:nvSpPr>
        <p:spPr>
          <a:xfrm>
            <a:off x="822960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Amrith Saras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841248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00025" lvl="0" marL="1778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Generator architecture and full training loop.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0025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Implemented the latent space interpolation experiment.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00025" lvl="0" marL="1778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Set up the GPU training environment (CUDA PyTorch).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1"/>
          <p:cNvSpPr/>
          <p:nvPr/>
        </p:nvSpPr>
        <p:spPr>
          <a:xfrm>
            <a:off x="4325112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21"/>
          <p:cNvSpPr/>
          <p:nvPr/>
        </p:nvSpPr>
        <p:spPr>
          <a:xfrm>
            <a:off x="4617720" y="1892808"/>
            <a:ext cx="640080" cy="640080"/>
          </a:xfrm>
          <a:prstGeom prst="ellipse">
            <a:avLst/>
          </a:prstGeom>
          <a:solidFill>
            <a:srgbClr val="F6C6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10" name="Google Shape;4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82312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21"/>
          <p:cNvSpPr txBox="1"/>
          <p:nvPr/>
        </p:nvSpPr>
        <p:spPr>
          <a:xfrm>
            <a:off x="4599432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Diya Jothish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1"/>
          <p:cNvSpPr txBox="1"/>
          <p:nvPr/>
        </p:nvSpPr>
        <p:spPr>
          <a:xfrm>
            <a:off x="4617720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model saving and loading.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Designed and implemented the Discriminator architecture and weight initialisation.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Coded all visualisation functions: epoch grids, loss curves, real vs fake.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1"/>
          <p:cNvSpPr/>
          <p:nvPr/>
        </p:nvSpPr>
        <p:spPr>
          <a:xfrm>
            <a:off x="8101584" y="1600200"/>
            <a:ext cx="3538728" cy="4526280"/>
          </a:xfrm>
          <a:prstGeom prst="roundRect">
            <a:avLst>
              <a:gd fmla="val 2584" name="adj"/>
            </a:avLst>
          </a:prstGeom>
          <a:solidFill>
            <a:srgbClr val="FFFFFF"/>
          </a:solidFill>
          <a:ln>
            <a:noFill/>
          </a:ln>
          <a:effectLst>
            <a:outerShdw blurRad="114300" rotWithShape="0" algn="bl" dir="5400000" dist="25400">
              <a:srgbClr val="3A3A55">
                <a:alpha val="1294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1"/>
          <p:cNvSpPr/>
          <p:nvPr/>
        </p:nvSpPr>
        <p:spPr>
          <a:xfrm>
            <a:off x="8394192" y="1892808"/>
            <a:ext cx="640200" cy="640200"/>
          </a:xfrm>
          <a:prstGeom prst="ellipse">
            <a:avLst/>
          </a:prstGeom>
          <a:solidFill>
            <a:srgbClr val="A8B8E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tmp/gan_ppt/icons/users_dark.png" id="415" name="Google Shape;41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58784" y="2057400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1"/>
          <p:cNvSpPr txBox="1"/>
          <p:nvPr/>
        </p:nvSpPr>
        <p:spPr>
          <a:xfrm>
            <a:off x="8375904" y="2679192"/>
            <a:ext cx="299008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700"/>
              <a:buFont typeface="Cambria"/>
              <a:buNone/>
            </a:pPr>
            <a:r>
              <a:rPr b="1" lang="en-US" sz="1700">
                <a:solidFill>
                  <a:srgbClr val="2E2E3A"/>
                </a:solidFill>
                <a:latin typeface="Cambria"/>
                <a:ea typeface="Cambria"/>
                <a:cs typeface="Cambria"/>
                <a:sym typeface="Cambria"/>
              </a:rPr>
              <a:t>Annabel Marianne Victor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1"/>
          <p:cNvSpPr txBox="1"/>
          <p:nvPr/>
        </p:nvSpPr>
        <p:spPr>
          <a:xfrm>
            <a:off x="8394192" y="3383280"/>
            <a:ext cx="2953512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23850" lvl="0" marL="4572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b="0" i="0" lang="en-US" sz="1500" u="none" cap="none" strike="noStrike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Handled MNIST data loading, normalisation and DataLoader setup.</a:t>
            </a:r>
            <a:endParaRPr b="0" i="0" sz="1500" u="none" cap="none" strike="noStrike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Analysed training dynamics and documented the results.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2E2E3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2E2E3A"/>
                </a:solidFill>
                <a:latin typeface="Calibri"/>
                <a:ea typeface="Calibri"/>
                <a:cs typeface="Calibri"/>
                <a:sym typeface="Calibri"/>
              </a:rPr>
              <a:t>Verified generated image quality across epochs.</a:t>
            </a:r>
            <a:endParaRPr sz="1500">
              <a:solidFill>
                <a:srgbClr val="2E2E3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8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GAN-Based Handwritten Digit Generation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1"/>
          <p:cNvSpPr txBox="1"/>
          <p:nvPr/>
        </p:nvSpPr>
        <p:spPr>
          <a:xfrm>
            <a:off x="11274552" y="649224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6E82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6E82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B2A4A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2"/>
          <p:cNvSpPr txBox="1"/>
          <p:nvPr/>
        </p:nvSpPr>
        <p:spPr>
          <a:xfrm>
            <a:off x="0" y="2914035"/>
            <a:ext cx="12189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8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Thank You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22"/>
          <p:cNvSpPr txBox="1"/>
          <p:nvPr/>
        </p:nvSpPr>
        <p:spPr>
          <a:xfrm>
            <a:off x="0" y="4572000"/>
            <a:ext cx="121889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7C9E2"/>
              </a:buClr>
              <a:buSzPts val="1300"/>
              <a:buFont typeface="Calibri"/>
              <a:buNone/>
            </a:pPr>
            <a:r>
              <a:rPr b="1" i="0" lang="en-US" sz="2000" u="none" cap="none" strike="noStrike">
                <a:solidFill>
                  <a:srgbClr val="C7C9E2"/>
                </a:solidFill>
                <a:latin typeface="Calibri"/>
                <a:ea typeface="Calibri"/>
                <a:cs typeface="Calibri"/>
                <a:sym typeface="Calibri"/>
              </a:rPr>
              <a:t>Amrith Saras   ·   Annabel Marianne Victor   ·   Diya Jothish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 txBox="1"/>
          <p:nvPr/>
        </p:nvSpPr>
        <p:spPr>
          <a:xfrm>
            <a:off x="0" y="4919472"/>
            <a:ext cx="1218895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96BE"/>
              </a:buClr>
              <a:buSzPts val="1100"/>
              <a:buFont typeface="Calibri"/>
              <a:buNone/>
            </a:pPr>
            <a:r>
              <a:rPr b="0" i="0" lang="en-US" sz="1500" u="none" cap="none" strike="noStrike">
                <a:solidFill>
                  <a:srgbClr val="9496BE"/>
                </a:solidFill>
                <a:latin typeface="Calibri"/>
                <a:ea typeface="Calibri"/>
                <a:cs typeface="Calibri"/>
                <a:sym typeface="Calibri"/>
              </a:rPr>
              <a:t>A15  ·  102903 / CO701B  Deep Learning  ·  Rajagiri School of Engineering &amp; Technology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