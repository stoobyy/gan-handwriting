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7020A8-79D1-4FB3-AEF3-38DB3644C332}">
  <a:tblStyle styleId="{B97020A8-79D1-4FB3-AEF3-38DB3644C3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anabel</a:t>
            </a:r>
            <a:endParaRPr dirty="0"/>
          </a:p>
        </p:txBody>
      </p:sp>
      <p:sp>
        <p:nvSpPr>
          <p:cNvPr id="29" name="Google Shape;2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anabel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anabel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5" name="Google Shape;7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anabel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3" name="Google Shape;10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anabel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anabel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dia</a:t>
            </a:r>
            <a:endParaRPr dirty="0"/>
          </a:p>
        </p:txBody>
      </p:sp>
      <p:sp>
        <p:nvSpPr>
          <p:cNvPr id="189" name="Google Shape;18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dia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7" name="Google Shape;21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dia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5" name="Google Shape;24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8" name="Google Shape;32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4" name="Google Shape;34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dia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45" name="Google Shape;34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4" name="Google Shape;36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dia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65" name="Google Shape;36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dia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9" name="Google Shape;39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2" name="Google Shape;422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4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38140" y="-756490"/>
            <a:ext cx="4206300" cy="4206300"/>
          </a:xfrm>
          <a:prstGeom prst="ellipse">
            <a:avLst/>
          </a:prstGeom>
          <a:solidFill>
            <a:srgbClr val="3433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4212200"/>
            <a:ext cx="2651400" cy="2645700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8936200" y="3860125"/>
            <a:ext cx="3255900" cy="2997900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8E8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A8B8E8"/>
                </a:solidFill>
                <a:latin typeface="Calibri"/>
                <a:ea typeface="Calibri"/>
                <a:cs typeface="Calibri"/>
                <a:sym typeface="Calibri"/>
              </a:rPr>
              <a:t> DEEP LEARNING PROJECT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2960" y="1874520"/>
            <a:ext cx="93268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GAN-Based Synthetic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5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Handwritten Digit Generation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0" y="3449738"/>
            <a:ext cx="121920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7C9E2"/>
              </a:buClr>
              <a:buSzPts val="1500"/>
              <a:buFont typeface="Calibri"/>
              <a:buNone/>
            </a:pPr>
            <a:r>
              <a:rPr lang="en-US" sz="2000" b="0" i="1" u="none" strike="noStrike" cap="none">
                <a:solidFill>
                  <a:srgbClr val="C7C9E2"/>
                </a:solidFill>
                <a:latin typeface="Calibri"/>
                <a:ea typeface="Calibri"/>
                <a:cs typeface="Calibri"/>
                <a:sym typeface="Calibri"/>
              </a:rPr>
              <a:t>Training a Generative Adversarial Network to synthesise novel handwritten digits from the MNIST dataset.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4526280"/>
            <a:ext cx="7863840" cy="1417320"/>
          </a:xfrm>
          <a:prstGeom prst="roundRect">
            <a:avLst>
              <a:gd name="adj" fmla="val 6452"/>
            </a:avLst>
          </a:prstGeom>
          <a:solidFill>
            <a:srgbClr val="34335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1097280" y="4663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8E8"/>
              </a:buClr>
              <a:buSzPts val="1050"/>
              <a:buFont typeface="Calibri"/>
              <a:buNone/>
            </a:pPr>
            <a:r>
              <a:rPr lang="en-US" sz="2000" b="1" i="0" u="none" strike="noStrike" cap="none">
                <a:solidFill>
                  <a:srgbClr val="A8B8E8"/>
                </a:solidFill>
                <a:latin typeface="Calibri"/>
                <a:ea typeface="Calibri"/>
                <a:cs typeface="Calibri"/>
                <a:sym typeface="Calibri"/>
              </a:rPr>
              <a:t>PROJECT TEAM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1097280" y="4956048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Amrith Saras     ·     Annabel Marianne Victor     ·     Diya Jothish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 txBox="1"/>
          <p:nvPr/>
        </p:nvSpPr>
        <p:spPr>
          <a:xfrm>
            <a:off x="1097280" y="54406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C9E2"/>
              </a:buClr>
              <a:buSzPts val="1200"/>
              <a:buFont typeface="Calibri"/>
              <a:buNone/>
            </a:pPr>
            <a:r>
              <a:rPr lang="en-US" sz="1800" b="0" i="0" u="none" strike="noStrike" cap="none">
                <a:solidFill>
                  <a:srgbClr val="C7C9E2"/>
                </a:solidFill>
                <a:latin typeface="Calibri"/>
                <a:ea typeface="Calibri"/>
                <a:cs typeface="Calibri"/>
                <a:sym typeface="Calibri"/>
              </a:rPr>
              <a:t>102903 / CO701B  Deep Learning|Rajagiri School of Engineering &amp; Technology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Problem Statement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01 · DEFINING THE CHALLENGE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1600200"/>
            <a:ext cx="603504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0637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Handwritten digit recognition is a well studied classification task with mature, high accuracy solutions.</a:t>
            </a:r>
            <a:endParaRPr sz="2000" i="1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06375" algn="l" rtl="0">
              <a:lnSpc>
                <a:spcPct val="108000"/>
              </a:lnSpc>
              <a:spcBef>
                <a:spcPts val="18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Generating realistic synthetic digits from random noise is a fundamentally different and harder problem: 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he model must learn the underlying data distribution, not just a decision boundary.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06375" algn="l" rtl="0">
              <a:lnSpc>
                <a:spcPct val="108000"/>
              </a:lnSpc>
              <a:spcBef>
                <a:spcPts val="18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This project implements a Generative Adversarial Network trained on MNIST to learn that distribution and produce novel, visually plausible handwritten digit images.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903720" y="1600200"/>
            <a:ext cx="4709160" cy="4480560"/>
          </a:xfrm>
          <a:prstGeom prst="roundRect">
            <a:avLst>
              <a:gd name="adj" fmla="val 2041"/>
            </a:avLst>
          </a:prstGeom>
          <a:solidFill>
            <a:srgbClr val="5D6FB0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" name="Google Shape;35;p4" descr="/tmp/gan_ppt/assets/real_sampl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74052" y="1856232"/>
            <a:ext cx="3968496" cy="396849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/>
        </p:nvSpPr>
        <p:spPr>
          <a:xfrm>
            <a:off x="6903720" y="6108192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050"/>
              <a:buFont typeface="Calibri"/>
              <a:buNone/>
            </a:pPr>
            <a:r>
              <a:rPr lang="en-US" sz="1700" b="0" i="1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Real MNIST handwritten digits: the target distribution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02 · WHAT WE SET OUT TO DO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" y="16002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49808" y="2057400"/>
            <a:ext cx="566928" cy="566928"/>
          </a:xfrm>
          <a:prstGeom prst="ellipse">
            <a:avLst/>
          </a:prstGeom>
          <a:solidFill>
            <a:srgbClr val="A8B8E8"/>
          </a:solidFill>
          <a:ln>
            <a:noFill/>
          </a:ln>
          <a:effectLst>
            <a:outerShdw blurRad="101600" dist="25400" dir="5400000" algn="bl" rotWithShape="0">
              <a:srgbClr val="3A3A55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8" name="Google Shape;48;p5" descr="/tmp/gan_ppt/icons/diagram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178" y="2136770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/>
          <p:nvPr/>
        </p:nvSpPr>
        <p:spPr>
          <a:xfrm>
            <a:off x="1508760" y="1728216"/>
            <a:ext cx="420624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Understand the GAN framework: 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he competing objectives of Generator and Discriminator.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6263640" y="160020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464808" y="2057400"/>
            <a:ext cx="566928" cy="566928"/>
          </a:xfrm>
          <a:prstGeom prst="ellipse">
            <a:avLst/>
          </a:prstGeom>
          <a:solidFill>
            <a:srgbClr val="F6C6C0"/>
          </a:solidFill>
          <a:ln>
            <a:noFill/>
          </a:ln>
          <a:effectLst>
            <a:outerShdw blurRad="101600" dist="25400" dir="5400000" algn="bl" rotWithShape="0">
              <a:srgbClr val="3A3A55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" name="Google Shape;52;p5" descr="/tmp/gan_ppt/icons/layers_dark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44178" y="2136770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 txBox="1"/>
          <p:nvPr/>
        </p:nvSpPr>
        <p:spPr>
          <a:xfrm>
            <a:off x="7223760" y="1728216"/>
            <a:ext cx="420624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Implement a GAN with two competing networks, trained end to end in PyTorch.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32461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749808" y="3703320"/>
            <a:ext cx="566928" cy="566928"/>
          </a:xfrm>
          <a:prstGeom prst="ellipse">
            <a:avLst/>
          </a:prstGeom>
          <a:solidFill>
            <a:srgbClr val="BFE3D0"/>
          </a:solidFill>
          <a:ln>
            <a:noFill/>
          </a:ln>
          <a:effectLst>
            <a:outerShdw blurRad="101600" dist="25400" dir="5400000" algn="bl" rotWithShape="0">
              <a:srgbClr val="3A3A55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" name="Google Shape;56;p5" descr="/tmp/gan_ppt/icons/dataset_dark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9178" y="3782690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5"/>
          <p:cNvSpPr txBox="1"/>
          <p:nvPr/>
        </p:nvSpPr>
        <p:spPr>
          <a:xfrm>
            <a:off x="1508760" y="3374136"/>
            <a:ext cx="420624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Train the model on the full MNIST dataset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all 60,000 greyscale handwritten digit images.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263640" y="324612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464808" y="3703320"/>
            <a:ext cx="566928" cy="566928"/>
          </a:xfrm>
          <a:prstGeom prst="ellipse">
            <a:avLst/>
          </a:prstGeom>
          <a:solidFill>
            <a:srgbClr val="A8B8E8"/>
          </a:solidFill>
          <a:ln>
            <a:noFill/>
          </a:ln>
          <a:effectLst>
            <a:outerShdw blurRad="101600" dist="25400" dir="5400000" algn="bl" rotWithShape="0">
              <a:srgbClr val="3A3A55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5" descr="/tmp/gan_ppt/icons/images_dark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44178" y="3782690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 txBox="1"/>
          <p:nvPr/>
        </p:nvSpPr>
        <p:spPr>
          <a:xfrm>
            <a:off x="7223760" y="3374136"/>
            <a:ext cx="420624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Generate novel synthetic handwritten digits from random Gaussian noise.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489204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49808" y="5349240"/>
            <a:ext cx="566928" cy="566928"/>
          </a:xfrm>
          <a:prstGeom prst="ellipse">
            <a:avLst/>
          </a:prstGeom>
          <a:solidFill>
            <a:srgbClr val="F6C6C0"/>
          </a:solidFill>
          <a:ln>
            <a:noFill/>
          </a:ln>
          <a:effectLst>
            <a:outerShdw blurRad="101600" dist="25400" dir="5400000" algn="bl" rotWithShape="0">
              <a:srgbClr val="3A3A55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5" descr="/tmp/gan_ppt/icons/chart_dark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29178" y="5428610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 txBox="1"/>
          <p:nvPr/>
        </p:nvSpPr>
        <p:spPr>
          <a:xfrm>
            <a:off x="1508760" y="5020056"/>
            <a:ext cx="420624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Analyse generation quality through training dynamics and visual inspection.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263640" y="4892040"/>
            <a:ext cx="534924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464808" y="5349240"/>
            <a:ext cx="566928" cy="566928"/>
          </a:xfrm>
          <a:prstGeom prst="ellipse">
            <a:avLst/>
          </a:prstGeom>
          <a:solidFill>
            <a:srgbClr val="BFE3D0"/>
          </a:solidFill>
          <a:ln>
            <a:noFill/>
          </a:ln>
          <a:effectLst>
            <a:outerShdw blurRad="101600" dist="25400" dir="5400000" algn="bl" rotWithShape="0">
              <a:srgbClr val="3A3A55">
                <a:alpha val="18039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8" name="Google Shape;68;p5" descr="/tmp/gan_ppt/icons/random_dark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44178" y="5428610"/>
            <a:ext cx="408188" cy="40818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 txBox="1"/>
          <p:nvPr/>
        </p:nvSpPr>
        <p:spPr>
          <a:xfrm>
            <a:off x="7223760" y="5020056"/>
            <a:ext cx="4206240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Explore the learned latent space through interpolation between noise vectors.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/>
          <p:nvPr/>
        </p:nvSpPr>
        <p:spPr>
          <a:xfrm>
            <a:off x="548652" y="457200"/>
            <a:ext cx="116433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6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The GAN Idea: Two Networks, One Contest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03 · BACKGROUND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128516" y="1417320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4128516" y="1417320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8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Random Noise</a:t>
            </a:r>
            <a:r>
              <a:rPr lang="en-US" sz="18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z ~ N(0, I) </a:t>
            </a:r>
            <a:r>
              <a:rPr lang="en-US" sz="18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8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100 dimensions)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975604" y="1993392"/>
            <a:ext cx="237744" cy="2194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128516" y="2258568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5D6FB0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4128516" y="2258568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Generator  G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975604" y="2834640"/>
            <a:ext cx="237744" cy="2194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128516" y="3099816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4128516" y="3099816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8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Synthetic Image</a:t>
            </a:r>
            <a:r>
              <a:rPr lang="en-US" sz="18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8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G(z)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5975604" y="3675888"/>
            <a:ext cx="237744" cy="2194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4128516" y="3941064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D98A80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4128516" y="3941064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Discriminator  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5975604" y="4517136"/>
            <a:ext cx="237744" cy="2194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128516" y="4782312"/>
            <a:ext cx="3931920" cy="512064"/>
          </a:xfrm>
          <a:prstGeom prst="roundRect">
            <a:avLst>
              <a:gd name="adj" fmla="val 14286"/>
            </a:avLst>
          </a:prstGeom>
          <a:solidFill>
            <a:srgbClr val="BFE3D0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4128516" y="4782312"/>
            <a:ext cx="39319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8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Real</a:t>
            </a:r>
            <a:r>
              <a:rPr lang="en-US" sz="18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or</a:t>
            </a:r>
            <a:r>
              <a:rPr lang="en-US" sz="18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Fake? →</a:t>
            </a:r>
            <a:r>
              <a:rPr lang="en-US" sz="18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8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robability score</a:t>
            </a:r>
            <a:r>
              <a:rPr lang="en-US" sz="18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(0, 1)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8471916" y="3941064"/>
            <a:ext cx="2331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8471916" y="3941064"/>
            <a:ext cx="233172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00"/>
              <a:buFont typeface="Calibri"/>
              <a:buNone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Real MNIST Image</a:t>
            </a:r>
            <a:r>
              <a:rPr lang="en-US" sz="15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 rot="5400000">
            <a:off x="8087868" y="4087368"/>
            <a:ext cx="237744" cy="21945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822960" y="56418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400"/>
              <a:buFont typeface="Cambria"/>
              <a:buNone/>
            </a:pPr>
            <a:r>
              <a:rPr lang="en-US" sz="2000" b="0" i="1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Training objective:   min G max D   E[ log D(x) ]  +  E[ log(1 − D(G(z))) ]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50" y="6007600"/>
            <a:ext cx="12192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0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At Nash equilibrium, the Generator matches the real data distribution and D(x) approaches 0.5 for every input, so it can no longer tell real from generated.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Dataset: MNIST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04 · DATA</a:t>
            </a:r>
            <a:r>
              <a:rPr lang="en-US" sz="2000" b="1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 DESCRIPTION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7"/>
          <p:cNvGraphicFramePr/>
          <p:nvPr/>
        </p:nvGraphicFramePr>
        <p:xfrm>
          <a:off x="548640" y="1691700"/>
          <a:ext cx="5879575" cy="3492925"/>
        </p:xfrm>
        <a:graphic>
          <a:graphicData uri="http://schemas.openxmlformats.org/drawingml/2006/table">
            <a:tbl>
              <a:tblPr>
                <a:noFill/>
                <a:tableStyleId>{B97020A8-79D1-4FB3-AEF3-38DB3644C332}</a:tableStyleId>
              </a:tblPr>
              <a:tblGrid>
                <a:gridCol w="199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4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Property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6F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6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4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Name</a:t>
                      </a:r>
                      <a:endParaRPr sz="20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MNIST</a:t>
                      </a:r>
                      <a:endParaRPr sz="20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 sz="20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torchvision.datasets.MNIST (auto-download)</a:t>
                      </a:r>
                      <a:endParaRPr sz="20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4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Channels</a:t>
                      </a:r>
                      <a:endParaRPr sz="20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(greyscale)</a:t>
                      </a:r>
                      <a:endParaRPr sz="20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5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Pixel normalisation</a:t>
                      </a:r>
                      <a:endParaRPr sz="20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20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[0, 1]  →  [-1, 1]</a:t>
                      </a:r>
                      <a:endParaRPr sz="20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8" name="Google Shape;108;p7"/>
          <p:cNvSpPr/>
          <p:nvPr/>
        </p:nvSpPr>
        <p:spPr>
          <a:xfrm>
            <a:off x="6720840" y="1691640"/>
            <a:ext cx="23317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922008" y="18928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6903720" y="2075688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60,000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6903720" y="28346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0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Training images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345168" y="1691640"/>
            <a:ext cx="23317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9546336" y="18928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"/>
          <p:cNvSpPr txBox="1"/>
          <p:nvPr/>
        </p:nvSpPr>
        <p:spPr>
          <a:xfrm>
            <a:off x="9528048" y="2075688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10,000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9528048" y="2834640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0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Test images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720840" y="3584448"/>
            <a:ext cx="23317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922008" y="3785616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 txBox="1"/>
          <p:nvPr/>
        </p:nvSpPr>
        <p:spPr>
          <a:xfrm>
            <a:off x="6903720" y="3968496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28 × 28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 txBox="1"/>
          <p:nvPr/>
        </p:nvSpPr>
        <p:spPr>
          <a:xfrm>
            <a:off x="6903720" y="472744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0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Pixel resolution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9345168" y="3584448"/>
            <a:ext cx="23317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9546336" y="3785616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 txBox="1"/>
          <p:nvPr/>
        </p:nvSpPr>
        <p:spPr>
          <a:xfrm>
            <a:off x="9528048" y="3968496"/>
            <a:ext cx="196596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10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9528048" y="4727448"/>
            <a:ext cx="19659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0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Digit classes (0–9)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 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Preprocessing Pipeline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04 · DATA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548640" y="1965960"/>
            <a:ext cx="2487168" cy="301752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1536192" y="2240280"/>
            <a:ext cx="512064" cy="512064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"/>
          <p:cNvSpPr txBox="1"/>
          <p:nvPr/>
        </p:nvSpPr>
        <p:spPr>
          <a:xfrm>
            <a:off x="1536192" y="2240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 txBox="1"/>
          <p:nvPr/>
        </p:nvSpPr>
        <p:spPr>
          <a:xfrm>
            <a:off x="713232" y="292608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45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Load as Tensors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 txBox="1"/>
          <p:nvPr/>
        </p:nvSpPr>
        <p:spPr>
          <a:xfrm>
            <a:off x="749808" y="3383280"/>
            <a:ext cx="2084700" cy="15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Images loaded via </a:t>
            </a:r>
            <a:r>
              <a:rPr lang="en-US" sz="12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torchvision.transforms.ToTensor()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 rot="-5400000">
            <a:off x="3054096" y="3374136"/>
            <a:ext cx="182880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3255264" y="1965960"/>
            <a:ext cx="2487168" cy="301752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4242816" y="2240280"/>
            <a:ext cx="512064" cy="512064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 txBox="1"/>
          <p:nvPr/>
        </p:nvSpPr>
        <p:spPr>
          <a:xfrm>
            <a:off x="4242816" y="2240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3419856" y="292608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45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Normalise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 txBox="1"/>
          <p:nvPr/>
        </p:nvSpPr>
        <p:spPr>
          <a:xfrm>
            <a:off x="3456432" y="3383280"/>
            <a:ext cx="2084832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Pixel values rescaled from [0, 1] to [-1, 1] using Normalize([0.5],[0.5]) to match the Generator's Tanh output.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 rot="-5400000">
            <a:off x="5760720" y="3374136"/>
            <a:ext cx="182880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5961888" y="1965960"/>
            <a:ext cx="2487168" cy="301752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6949440" y="2240280"/>
            <a:ext cx="512064" cy="512064"/>
          </a:xfrm>
          <a:prstGeom prst="ellipse">
            <a:avLst/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6949440" y="2240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6126480" y="292608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45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Batch &amp; Shuffle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6163056" y="3383280"/>
            <a:ext cx="2084832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Batch size 128, data reshuffled every epoch for stable gradient estimates.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 rot="-5400000">
            <a:off x="8467344" y="3374136"/>
            <a:ext cx="182880" cy="2011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8668512" y="1965960"/>
            <a:ext cx="2487168" cy="3017520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9656064" y="2240280"/>
            <a:ext cx="512064" cy="512064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 txBox="1"/>
          <p:nvPr/>
        </p:nvSpPr>
        <p:spPr>
          <a:xfrm>
            <a:off x="9656064" y="22402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mbria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8833104" y="2926080"/>
            <a:ext cx="21579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45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No Augmentation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8869680" y="3383280"/>
            <a:ext cx="2084832" cy="15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MNIST is already large and class-balanced, so no augmentation was applied.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 txBox="1"/>
          <p:nvPr/>
        </p:nvSpPr>
        <p:spPr>
          <a:xfrm>
            <a:off x="548651" y="457200"/>
            <a:ext cx="11091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6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Methodology: Why a Convolutional GAN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05 · METHODOLOGY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822967" y="1783085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50"/>
              <a:buFont typeface="Calibri"/>
              <a:buNone/>
            </a:pPr>
            <a:r>
              <a:rPr lang="en-US" sz="15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Architecture choice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 txBox="1"/>
          <p:nvPr/>
        </p:nvSpPr>
        <p:spPr>
          <a:xfrm>
            <a:off x="868675" y="2331725"/>
            <a:ext cx="4755000" cy="3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marR="0" lvl="0" indent="-355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This implementation uses a Deep Convolutional GAN (DCGAN): 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oth networks use convolutional layers instead of a stack of fully-connected ones.</a:t>
            </a:r>
            <a:endParaRPr sz="2000" b="0" i="1" u="none" strike="noStrike" cap="none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i="1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55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Transposed convolutions upsample in the Generator and strided convolutions downsample in the Discriminator, which exploits the spatial structure of images.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989320" y="1691640"/>
            <a:ext cx="5650992" cy="1037844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69" name="Google Shape;169;p9"/>
          <p:cNvSpPr/>
          <p:nvPr/>
        </p:nvSpPr>
        <p:spPr>
          <a:xfrm>
            <a:off x="6172200" y="2009394"/>
            <a:ext cx="402336" cy="402336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70" name="Google Shape;170;p9"/>
          <p:cNvSpPr txBox="1"/>
          <p:nvPr/>
        </p:nvSpPr>
        <p:spPr>
          <a:xfrm>
            <a:off x="6720840" y="17830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500" b="1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LeakyReLU (slope 0.2)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6720840" y="2093976"/>
            <a:ext cx="475488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1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Used in the Discriminator hidden layers; the Generator uses ReLU. Avoids dead neurons from plain ReLU.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989320" y="2802636"/>
            <a:ext cx="5650992" cy="1037844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73" name="Google Shape;173;p9"/>
          <p:cNvSpPr/>
          <p:nvPr/>
        </p:nvSpPr>
        <p:spPr>
          <a:xfrm>
            <a:off x="6172200" y="3120390"/>
            <a:ext cx="402336" cy="402336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74" name="Google Shape;174;p9"/>
          <p:cNvSpPr txBox="1"/>
          <p:nvPr/>
        </p:nvSpPr>
        <p:spPr>
          <a:xfrm>
            <a:off x="6720840" y="2894076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500" b="1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Tanh at Generator output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6720840" y="3204972"/>
            <a:ext cx="475488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1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Squashes pixel values to [-1, 1], matching the normalised input images.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989320" y="3913632"/>
            <a:ext cx="5650992" cy="1037844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77" name="Google Shape;177;p9"/>
          <p:cNvSpPr/>
          <p:nvPr/>
        </p:nvSpPr>
        <p:spPr>
          <a:xfrm>
            <a:off x="6172200" y="4231386"/>
            <a:ext cx="402336" cy="402336"/>
          </a:xfrm>
          <a:prstGeom prst="ellipse">
            <a:avLst/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78" name="Google Shape;178;p9"/>
          <p:cNvSpPr txBox="1"/>
          <p:nvPr/>
        </p:nvSpPr>
        <p:spPr>
          <a:xfrm>
            <a:off x="6720840" y="4005072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500" b="1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Sigmoid at Discriminator output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6720840" y="4315968"/>
            <a:ext cx="475488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1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Produces a clean probability in (0, 1) for the real / fake decision.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5989320" y="5024628"/>
            <a:ext cx="5650992" cy="1037844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81" name="Google Shape;181;p9"/>
          <p:cNvSpPr/>
          <p:nvPr/>
        </p:nvSpPr>
        <p:spPr>
          <a:xfrm>
            <a:off x="6172200" y="5342382"/>
            <a:ext cx="402336" cy="402336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i="1"/>
          </a:p>
        </p:txBody>
      </p:sp>
      <p:sp>
        <p:nvSpPr>
          <p:cNvPr id="182" name="Google Shape;182;p9"/>
          <p:cNvSpPr txBox="1"/>
          <p:nvPr/>
        </p:nvSpPr>
        <p:spPr>
          <a:xfrm>
            <a:off x="6720840" y="51160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1500" b="1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BatchNorm in both networks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720840" y="5426964"/>
            <a:ext cx="4754880" cy="534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1500" b="0" i="1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Applied after each convolutional layer, except the Generator output and Discriminator input.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Generator Architecture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05 · METHODOLOGY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4494276" y="1298448"/>
            <a:ext cx="32004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194" name="Google Shape;194;p10"/>
          <p:cNvSpPr txBox="1"/>
          <p:nvPr/>
        </p:nvSpPr>
        <p:spPr>
          <a:xfrm>
            <a:off x="4494276" y="1298448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Input: Noise vector  z</a:t>
            </a:r>
            <a:r>
              <a:rPr lang="en-US" sz="20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(100,)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5993892" y="1815084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196" name="Google Shape;196;p10"/>
          <p:cNvSpPr/>
          <p:nvPr/>
        </p:nvSpPr>
        <p:spPr>
          <a:xfrm>
            <a:off x="3991356" y="1906524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197" name="Google Shape;197;p10"/>
          <p:cNvSpPr txBox="1"/>
          <p:nvPr/>
        </p:nvSpPr>
        <p:spPr>
          <a:xfrm>
            <a:off x="3991356" y="1906524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Linear(100 → 256×7×7) + BN + ReLU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5993892" y="2423160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199" name="Google Shape;199;p10"/>
          <p:cNvSpPr/>
          <p:nvPr/>
        </p:nvSpPr>
        <p:spPr>
          <a:xfrm>
            <a:off x="3442716" y="2514600"/>
            <a:ext cx="530352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0" name="Google Shape;200;p10"/>
          <p:cNvSpPr txBox="1"/>
          <p:nvPr/>
        </p:nvSpPr>
        <p:spPr>
          <a:xfrm>
            <a:off x="3442716" y="2514600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Reshape → feature map (256, 7, 7)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993892" y="3031236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2" name="Google Shape;202;p10"/>
          <p:cNvSpPr/>
          <p:nvPr/>
        </p:nvSpPr>
        <p:spPr>
          <a:xfrm>
            <a:off x="2894076" y="3122676"/>
            <a:ext cx="6400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3" name="Google Shape;203;p10"/>
          <p:cNvSpPr txBox="1"/>
          <p:nvPr/>
        </p:nvSpPr>
        <p:spPr>
          <a:xfrm>
            <a:off x="2894076" y="3122676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ConvTranspose(256→128) + BN + ReLU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5993892" y="3639312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5" name="Google Shape;205;p10"/>
          <p:cNvSpPr/>
          <p:nvPr/>
        </p:nvSpPr>
        <p:spPr>
          <a:xfrm>
            <a:off x="2345436" y="3730752"/>
            <a:ext cx="7498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6" name="Google Shape;206;p10"/>
          <p:cNvSpPr txBox="1"/>
          <p:nvPr/>
        </p:nvSpPr>
        <p:spPr>
          <a:xfrm>
            <a:off x="2345436" y="3730752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ConvTranspose(128→64) + BN + ReLU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5993892" y="4247388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8" name="Google Shape;208;p10"/>
          <p:cNvSpPr/>
          <p:nvPr/>
        </p:nvSpPr>
        <p:spPr>
          <a:xfrm>
            <a:off x="3808476" y="4338828"/>
            <a:ext cx="4572000" cy="475488"/>
          </a:xfrm>
          <a:prstGeom prst="roundRect">
            <a:avLst>
              <a:gd name="adj" fmla="val 13462"/>
            </a:avLst>
          </a:prstGeom>
          <a:solidFill>
            <a:srgbClr val="5D6FB0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09" name="Google Shape;209;p10"/>
          <p:cNvSpPr txBox="1"/>
          <p:nvPr/>
        </p:nvSpPr>
        <p:spPr>
          <a:xfrm>
            <a:off x="3808476" y="4338828"/>
            <a:ext cx="45720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Conv(64→1) + Tanh → (1, 28, 28)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174236" y="5134356"/>
            <a:ext cx="3840480" cy="438912"/>
          </a:xfrm>
          <a:prstGeom prst="roundRect">
            <a:avLst>
              <a:gd name="adj" fmla="val 50000"/>
            </a:avLst>
          </a:prstGeom>
          <a:solidFill>
            <a:srgbClr val="5D6F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/>
          </a:p>
        </p:txBody>
      </p:sp>
      <p:sp>
        <p:nvSpPr>
          <p:cNvPr id="211" name="Google Shape;211;p10"/>
          <p:cNvSpPr txBox="1"/>
          <p:nvPr/>
        </p:nvSpPr>
        <p:spPr>
          <a:xfrm>
            <a:off x="4174236" y="5134356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Generator parameters: 1,935,808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Discriminator Architecture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05 · METHODOLOGY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2345436" y="1298448"/>
            <a:ext cx="749808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1"/>
          <p:cNvSpPr txBox="1"/>
          <p:nvPr/>
        </p:nvSpPr>
        <p:spPr>
          <a:xfrm>
            <a:off x="2345436" y="1298448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Input: Image</a:t>
            </a:r>
            <a:r>
              <a:rPr lang="en-US" sz="20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(1, 28, 28)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993892" y="1815084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2894076" y="1906524"/>
            <a:ext cx="64008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2894076" y="1906524"/>
            <a:ext cx="64008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Conv(1→64) + LeakyReLU(0.2)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993892" y="2423160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3442716" y="2514600"/>
            <a:ext cx="530352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"/>
          <p:cNvSpPr txBox="1"/>
          <p:nvPr/>
        </p:nvSpPr>
        <p:spPr>
          <a:xfrm>
            <a:off x="3442716" y="2514600"/>
            <a:ext cx="53035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Conv(64→128) + BN + LeakyReLU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5993892" y="3031236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3991356" y="3122676"/>
            <a:ext cx="420624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1"/>
          <p:cNvSpPr txBox="1"/>
          <p:nvPr/>
        </p:nvSpPr>
        <p:spPr>
          <a:xfrm>
            <a:off x="3991356" y="3122676"/>
            <a:ext cx="42062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Conv(128→256) + BN + LeakyReLU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5993892" y="3639312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4494276" y="3730752"/>
            <a:ext cx="3200400" cy="475488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4494276" y="3730752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Linear(2304→1) + Sigmoid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993892" y="4247388"/>
            <a:ext cx="201168" cy="1828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E6E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4082796" y="4338828"/>
            <a:ext cx="4023360" cy="475488"/>
          </a:xfrm>
          <a:prstGeom prst="roundRect">
            <a:avLst>
              <a:gd name="adj" fmla="val 13462"/>
            </a:avLst>
          </a:prstGeom>
          <a:solidFill>
            <a:srgbClr val="D98A80"/>
          </a:solidFill>
          <a:ln>
            <a:noFill/>
          </a:ln>
          <a:effectLst>
            <a:outerShdw blurRad="762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4082796" y="4338828"/>
            <a:ext cx="40233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US" sz="2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P(real) ∈ (0, 1)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174236" y="5134356"/>
            <a:ext cx="3840480" cy="438912"/>
          </a:xfrm>
          <a:prstGeom prst="roundRect">
            <a:avLst>
              <a:gd name="adj" fmla="val 50000"/>
            </a:avLst>
          </a:prstGeom>
          <a:solidFill>
            <a:srgbClr val="5D6F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"/>
          <p:cNvSpPr txBox="1"/>
          <p:nvPr/>
        </p:nvSpPr>
        <p:spPr>
          <a:xfrm>
            <a:off x="4174236" y="5134356"/>
            <a:ext cx="3840480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2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Discriminator parameters:  659,457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Implementation &amp; Training Setup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06 · IMPLEMENTATION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12"/>
          <p:cNvGraphicFramePr/>
          <p:nvPr/>
        </p:nvGraphicFramePr>
        <p:xfrm>
          <a:off x="548640" y="1691640"/>
          <a:ext cx="5577850" cy="3657600"/>
        </p:xfrm>
        <a:graphic>
          <a:graphicData uri="http://schemas.openxmlformats.org/drawingml/2006/table">
            <a:tbl>
              <a:tblPr>
                <a:noFill/>
                <a:tableStyleId>{B97020A8-79D1-4FB3-AEF3-38DB3644C332}</a:tableStyleId>
              </a:tblPr>
              <a:tblGrid>
                <a:gridCol w="210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6FB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Detail</a:t>
                      </a:r>
                      <a:endParaRPr sz="15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D6F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Framework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PyTorch 2.11.0+cu128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Hardware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NVIDIA GeForce RTX 3050 Laptop GPU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Optimiser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Adam (lr = 0.0002, betas 0.5/0.999)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Loss function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Binary Cross-Entropy (BCELoss)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Epochs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Batch size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b="1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Latent dimension</a:t>
                      </a:r>
                      <a:endParaRPr sz="1500" b="1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E2E3A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500" i="1" u="none" strike="noStrike" cap="none">
                          <a:solidFill>
                            <a:srgbClr val="2E2E3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</a:t>
                      </a:r>
                      <a:endParaRPr sz="1500" i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127000" marR="127000" marT="76200" marB="76200" anchor="ctr">
                    <a:lnL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4E4E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0" name="Google Shape;250;p12"/>
          <p:cNvSpPr txBox="1"/>
          <p:nvPr/>
        </p:nvSpPr>
        <p:spPr>
          <a:xfrm>
            <a:off x="6446520" y="169164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300"/>
              <a:buFont typeface="Calibri"/>
              <a:buNone/>
            </a:pPr>
            <a:r>
              <a:rPr lang="en-US" sz="15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Training design choices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 txBox="1"/>
          <p:nvPr/>
        </p:nvSpPr>
        <p:spPr>
          <a:xfrm>
            <a:off x="6446520" y="2103120"/>
            <a:ext cx="525780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1907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Independent Adam optimisers for G and D, so each network updates from its own gradient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fake_imgs.detach() is used when computing the Discriminator's loss, which stops gradients flowing back into G during D's update step.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 fixed 64-sample noise vector was reused every epoch, so generated samples could be compared side by side as training progressed.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4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Sample grids saved every 5 epochs</a:t>
            </a:r>
            <a:r>
              <a:rPr lang="en-US" sz="20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random seed fixed at 42 for reproducibility.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Training Dynamics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07 · RESULTS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548640" y="1417320"/>
            <a:ext cx="11091672" cy="370332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2" name="Google Shape;262;p13" descr="/tmp/gan_ppt/assets/training_curv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77924" y="1691640"/>
            <a:ext cx="8833104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3"/>
          <p:cNvSpPr txBox="1"/>
          <p:nvPr/>
        </p:nvSpPr>
        <p:spPr>
          <a:xfrm>
            <a:off x="548640" y="5285232"/>
            <a:ext cx="11091672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9367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Over 50 epochs the discriminator held a consistent edge: </a:t>
            </a:r>
            <a:r>
              <a:rPr lang="en-US" sz="1500" i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en-US" sz="15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ts confidence on real images rose from about 0.78 toward 0.87, while its confidence on generated images fell from about 0.23 toward 0.13.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193675" algn="l" rtl="0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This pattern is common when training a DCGAN on MNIST, and it did not stop the generator from producing recognisable digits, as the following slides show.</a:t>
            </a:r>
            <a:endParaRPr sz="15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Generation Quality Across Training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07 · RESULTS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548640" y="146304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4" name="Google Shape;274;p14" descr="/tmp/gan_ppt/assets/epoch_00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944" y="1609344"/>
            <a:ext cx="3227832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4"/>
          <p:cNvSpPr txBox="1"/>
          <p:nvPr/>
        </p:nvSpPr>
        <p:spPr>
          <a:xfrm>
            <a:off x="548640" y="509320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50"/>
              <a:buFont typeface="Calibri"/>
              <a:buNone/>
            </a:pPr>
            <a:r>
              <a:rPr lang="en-US" sz="15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Epoch 1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4"/>
          <p:cNvSpPr txBox="1"/>
          <p:nvPr/>
        </p:nvSpPr>
        <p:spPr>
          <a:xfrm>
            <a:off x="548640" y="5404104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00"/>
              <a:buFont typeface="Calibri"/>
              <a:buNone/>
            </a:pPr>
            <a:r>
              <a:rPr lang="en-US" sz="15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Thick, blobby, often malformed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4"/>
          <p:cNvSpPr/>
          <p:nvPr/>
        </p:nvSpPr>
        <p:spPr>
          <a:xfrm>
            <a:off x="4334256" y="146304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8" name="Google Shape;278;p14" descr="/tmp/gan_ppt/assets/epoch_025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80560" y="1609344"/>
            <a:ext cx="3227832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4"/>
          <p:cNvSpPr txBox="1"/>
          <p:nvPr/>
        </p:nvSpPr>
        <p:spPr>
          <a:xfrm>
            <a:off x="4334256" y="509320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50"/>
              <a:buFont typeface="Calibri"/>
              <a:buNone/>
            </a:pPr>
            <a:r>
              <a:rPr lang="en-US" sz="15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Epoch 25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4"/>
          <p:cNvSpPr txBox="1"/>
          <p:nvPr/>
        </p:nvSpPr>
        <p:spPr>
          <a:xfrm>
            <a:off x="4334256" y="5404104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00"/>
              <a:buFont typeface="Calibri"/>
              <a:buNone/>
            </a:pPr>
            <a:r>
              <a:rPr lang="en-US" sz="15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Rough digit-like shapes emerging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4"/>
          <p:cNvSpPr/>
          <p:nvPr/>
        </p:nvSpPr>
        <p:spPr>
          <a:xfrm>
            <a:off x="8119872" y="1463040"/>
            <a:ext cx="352044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2" name="Google Shape;282;p14" descr="/tmp/gan_ppt/assets/epoch_050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66176" y="1609344"/>
            <a:ext cx="3227832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4"/>
          <p:cNvSpPr txBox="1"/>
          <p:nvPr/>
        </p:nvSpPr>
        <p:spPr>
          <a:xfrm>
            <a:off x="8119872" y="509320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50"/>
              <a:buFont typeface="Calibri"/>
              <a:buNone/>
            </a:pPr>
            <a:r>
              <a:rPr lang="en-US" sz="15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Epoch 50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 txBox="1"/>
          <p:nvPr/>
        </p:nvSpPr>
        <p:spPr>
          <a:xfrm>
            <a:off x="8119872" y="5404104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00"/>
              <a:buFont typeface="Calibri"/>
              <a:buNone/>
            </a:pPr>
            <a:r>
              <a:rPr lang="en-US" sz="15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Recognisable digits across classes</a:t>
            </a:r>
            <a:endParaRPr sz="15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Real vs Generated Digits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07 · RESULTS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5"/>
          <p:cNvSpPr/>
          <p:nvPr/>
        </p:nvSpPr>
        <p:spPr>
          <a:xfrm>
            <a:off x="1883664" y="1417320"/>
            <a:ext cx="841248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5" name="Google Shape;295;p15" descr="/tmp/gan_ppt/assets/real_vs_fak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32304" y="1691640"/>
            <a:ext cx="73152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5"/>
          <p:cNvSpPr txBox="1"/>
          <p:nvPr/>
        </p:nvSpPr>
        <p:spPr>
          <a:xfrm>
            <a:off x="1280160" y="57607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250"/>
              <a:buFont typeface="Calibri"/>
              <a:buNone/>
            </a:pPr>
            <a:r>
              <a:rPr lang="en-US" sz="1500" b="0" i="1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Generated digits are visually plausible across most classes, with occasional uneven strokes. The Discriminator still separates real from generated with high confidence at the end of training.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6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Latent Space Interpolation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07 · RESULTS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280160" y="1920240"/>
            <a:ext cx="96012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16" descr="/tmp/gan_ppt/assets/latent_interpola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4570" y="2121408"/>
            <a:ext cx="7612380" cy="101498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6"/>
          <p:cNvSpPr/>
          <p:nvPr/>
        </p:nvSpPr>
        <p:spPr>
          <a:xfrm>
            <a:off x="4174236" y="3611880"/>
            <a:ext cx="3840480" cy="420624"/>
          </a:xfrm>
          <a:prstGeom prst="roundRect">
            <a:avLst>
              <a:gd name="adj" fmla="val 50000"/>
            </a:avLst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6"/>
          <p:cNvSpPr txBox="1"/>
          <p:nvPr/>
        </p:nvSpPr>
        <p:spPr>
          <a:xfrm>
            <a:off x="4174236" y="3611880"/>
            <a:ext cx="3840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1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10 interpolation steps</a:t>
            </a:r>
            <a:r>
              <a:rPr lang="en-US" sz="2000" b="1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z₁ → z₂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1463040" y="4434840"/>
            <a:ext cx="923544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1590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Interpolating between two random noise vectors z₁ and z₂ produces a smooth, continuous sequence of plausible digit shapes rather than an abrupt jump.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5900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This is evidence that the Generator learned a structured latent space, instead of simply memorising individual training examples.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7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100 Digits Generated From Noise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07 · RESULTS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685800" y="1463040"/>
            <a:ext cx="47091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>
            <a:noFill/>
          </a:ln>
          <a:effectLst>
            <a:outerShdw blurRad="127000" dist="38100" dir="5400000" algn="bl" rotWithShape="0">
              <a:srgbClr val="3A3A55">
                <a:alpha val="14902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21" name="Google Shape;321;p17" descr="/tmp/gan_ppt/assets/final_generated_10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" y="1627632"/>
            <a:ext cx="4379976" cy="43799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 txBox="1"/>
          <p:nvPr/>
        </p:nvSpPr>
        <p:spPr>
          <a:xfrm>
            <a:off x="5852160" y="2286000"/>
            <a:ext cx="576072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095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 representative spread across all ten digit classes (0–9), generated purely from random noise.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09550" algn="l" rtl="0">
              <a:lnSpc>
                <a:spcPct val="108000"/>
              </a:lnSpc>
              <a:spcBef>
                <a:spcPts val="20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Some classes appear more often than others, a mild imbalance rather than full mode collapse.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09550" algn="l" rtl="0">
              <a:lnSpc>
                <a:spcPct val="108000"/>
              </a:lnSpc>
              <a:spcBef>
                <a:spcPts val="20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 few ambiguous shapes remain, with occasional uneven stroke thickness.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8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Analysis &amp; Interpretation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8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08 · ANALYSIS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8"/>
          <p:cNvSpPr/>
          <p:nvPr/>
        </p:nvSpPr>
        <p:spPr>
          <a:xfrm>
            <a:off x="548640" y="1600200"/>
            <a:ext cx="53492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</p:txBody>
      </p:sp>
      <p:sp>
        <p:nvSpPr>
          <p:cNvPr id="333" name="Google Shape;333;p18"/>
          <p:cNvSpPr/>
          <p:nvPr/>
        </p:nvSpPr>
        <p:spPr>
          <a:xfrm>
            <a:off x="822960" y="1874520"/>
            <a:ext cx="411480" cy="411480"/>
          </a:xfrm>
          <a:prstGeom prst="ellipse">
            <a:avLst/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</p:txBody>
      </p:sp>
      <p:sp>
        <p:nvSpPr>
          <p:cNvPr id="334" name="Google Shape;334;p18"/>
          <p:cNvSpPr txBox="1"/>
          <p:nvPr/>
        </p:nvSpPr>
        <p:spPr>
          <a:xfrm>
            <a:off x="1371600" y="187452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600"/>
              <a:buFont typeface="Calibri"/>
              <a:buNone/>
            </a:pPr>
            <a:r>
              <a:rPr lang="en-US" sz="2000" b="1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868680" y="2514600"/>
            <a:ext cx="4709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1907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Digit-like structure emerged by epoch 10–15 and became clearly recognisable by epoch 50, across multiple classes.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6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Latent space interpolation confirmed a smooth, continuous internal representation rather than memorisation.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9075" algn="l" rtl="0">
              <a:lnSpc>
                <a:spcPct val="108000"/>
              </a:lnSpc>
              <a:spcBef>
                <a:spcPts val="1600"/>
              </a:spcBef>
              <a:spcAft>
                <a:spcPts val="0"/>
              </a:spcAft>
              <a:buClr>
                <a:srgbClr val="2E2E3A"/>
              </a:buClr>
              <a:buSzPts val="2000"/>
              <a:buFont typeface="Calibri"/>
              <a:buChar char="●"/>
            </a:pPr>
            <a:r>
              <a:rPr lang="en-US" sz="20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The adversarial setup trained end to end without fully collapsing, and the generator kept improving throughout.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6080760" y="1600200"/>
            <a:ext cx="534924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</p:txBody>
      </p:sp>
      <p:sp>
        <p:nvSpPr>
          <p:cNvPr id="337" name="Google Shape;337;p18"/>
          <p:cNvSpPr/>
          <p:nvPr/>
        </p:nvSpPr>
        <p:spPr>
          <a:xfrm>
            <a:off x="6355080" y="1874520"/>
            <a:ext cx="411480" cy="411480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/>
          </a:p>
        </p:txBody>
      </p:sp>
      <p:sp>
        <p:nvSpPr>
          <p:cNvPr id="338" name="Google Shape;338;p18"/>
          <p:cNvSpPr txBox="1"/>
          <p:nvPr/>
        </p:nvSpPr>
        <p:spPr>
          <a:xfrm>
            <a:off x="6903720" y="1874520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600"/>
              <a:buFont typeface="Calibri"/>
              <a:buNone/>
            </a:pPr>
            <a:r>
              <a:rPr lang="en-US" sz="2000" b="1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sz="20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6400800" y="2514600"/>
            <a:ext cx="4709160" cy="352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1272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libri"/>
              <a:buChar char="●"/>
            </a:pPr>
            <a:r>
              <a:rPr lang="en-US" sz="18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No quantitative FID (Fréchet Inception Distance) score was computed, due to compute constraints.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2725" algn="l" rtl="0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libri"/>
              <a:buChar char="●"/>
            </a:pPr>
            <a:r>
              <a:rPr lang="en-US" sz="18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The discriminator kept a persistent edge rather than settling near the theoretical 0.5 equilibrium.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2725" algn="l" rtl="0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libri"/>
              <a:buChar char="●"/>
            </a:pPr>
            <a:r>
              <a:rPr lang="en-US" sz="18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Minor artefacts remain in stroke thickness compared with real MNIST samples.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12725" algn="l" rtl="0">
              <a:lnSpc>
                <a:spcPct val="108000"/>
              </a:lnSpc>
              <a:spcBef>
                <a:spcPts val="100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libri"/>
              <a:buChar char="●"/>
            </a:pPr>
            <a:r>
              <a:rPr lang="en-US" sz="1800" b="0" i="1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No class conditioning: the model cannot yet be asked to generate one specific digit.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09 · CONCLUSION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/>
          <p:nvPr/>
        </p:nvSpPr>
        <p:spPr>
          <a:xfrm>
            <a:off x="822960" y="1691640"/>
            <a:ext cx="10515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>
            <a:noFill/>
          </a:ln>
          <a:effectLst>
            <a:outerShdw blurRad="1270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1188720" y="1965960"/>
            <a:ext cx="978408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650"/>
              <a:buFont typeface="Cambria"/>
              <a:buNone/>
            </a:pPr>
            <a:r>
              <a:rPr lang="en-US" sz="1800" b="0" i="1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A Deep Convolutional GAN (DCGAN) was implemented and trained on MNIST for 50 epochs, learning to generate visually plausible handwritten digits from 100-dimensional Gaussian noise across all ten digit classes. Latent space interpolation confirmed the model learned a smooth, structured internal representation rather than memorising the training set. The project validates the core GAN principle: two competing networks, trained together, can produce a working generative model.</a:t>
            </a:r>
            <a:endParaRPr sz="1800" b="0" i="1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9"/>
          <p:cNvSpPr/>
          <p:nvPr/>
        </p:nvSpPr>
        <p:spPr>
          <a:xfrm>
            <a:off x="653796" y="4480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653796" y="461772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653796" y="53035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Epochs trained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4402836" y="4480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9"/>
          <p:cNvSpPr txBox="1"/>
          <p:nvPr/>
        </p:nvSpPr>
        <p:spPr>
          <a:xfrm>
            <a:off x="4402836" y="461772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1.94M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 txBox="1"/>
          <p:nvPr/>
        </p:nvSpPr>
        <p:spPr>
          <a:xfrm>
            <a:off x="4402836" y="53035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Generator parameters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8151876" y="448056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9"/>
          <p:cNvSpPr txBox="1"/>
          <p:nvPr/>
        </p:nvSpPr>
        <p:spPr>
          <a:xfrm>
            <a:off x="8151876" y="4617720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2600"/>
              <a:buFont typeface="Cambria"/>
              <a:buNone/>
            </a:pPr>
            <a:r>
              <a:rPr lang="en-US" sz="26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10 / 10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8151876" y="53035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Digit classes represented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 dirty="0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0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Future Scope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0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10 · WHAT'S NEXT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548640" y="1691640"/>
            <a:ext cx="2084832" cy="4206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370" name="Google Shape;370;p20"/>
          <p:cNvSpPr/>
          <p:nvPr/>
        </p:nvSpPr>
        <p:spPr>
          <a:xfrm>
            <a:off x="1353312" y="1947672"/>
            <a:ext cx="475488" cy="475488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0"/>
          <p:cNvSpPr txBox="1"/>
          <p:nvPr/>
        </p:nvSpPr>
        <p:spPr>
          <a:xfrm>
            <a:off x="1353312" y="1947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0"/>
          <p:cNvSpPr txBox="1"/>
          <p:nvPr/>
        </p:nvSpPr>
        <p:spPr>
          <a:xfrm>
            <a:off x="676656" y="2606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Conditional GAN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0"/>
          <p:cNvSpPr txBox="1"/>
          <p:nvPr/>
        </p:nvSpPr>
        <p:spPr>
          <a:xfrm>
            <a:off x="713232" y="3291840"/>
            <a:ext cx="175564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050"/>
              <a:buFont typeface="Calibri"/>
              <a:buNone/>
            </a:pPr>
            <a:r>
              <a:rPr lang="en-US" sz="18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Condition on the digit class label to generate a specific digit on demand.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2779776" y="1691640"/>
            <a:ext cx="2084832" cy="4206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375" name="Google Shape;375;p20"/>
          <p:cNvSpPr/>
          <p:nvPr/>
        </p:nvSpPr>
        <p:spPr>
          <a:xfrm>
            <a:off x="3584448" y="1947672"/>
            <a:ext cx="475488" cy="475488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0"/>
          <p:cNvSpPr txBox="1"/>
          <p:nvPr/>
        </p:nvSpPr>
        <p:spPr>
          <a:xfrm>
            <a:off x="3584448" y="1947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 txBox="1"/>
          <p:nvPr/>
        </p:nvSpPr>
        <p:spPr>
          <a:xfrm>
            <a:off x="2907792" y="2606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Wasserstein GAN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 txBox="1"/>
          <p:nvPr/>
        </p:nvSpPr>
        <p:spPr>
          <a:xfrm>
            <a:off x="2944368" y="3291840"/>
            <a:ext cx="175564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050"/>
              <a:buFont typeface="Calibri"/>
              <a:buNone/>
            </a:pPr>
            <a:r>
              <a:rPr lang="en-US" sz="18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Use the Wasserstein distance for more stable training and convergence.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5010912" y="1691640"/>
            <a:ext cx="2084832" cy="4206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380" name="Google Shape;380;p20"/>
          <p:cNvSpPr/>
          <p:nvPr/>
        </p:nvSpPr>
        <p:spPr>
          <a:xfrm>
            <a:off x="5815584" y="1947672"/>
            <a:ext cx="475488" cy="475488"/>
          </a:xfrm>
          <a:prstGeom prst="ellipse">
            <a:avLst/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0"/>
          <p:cNvSpPr txBox="1"/>
          <p:nvPr/>
        </p:nvSpPr>
        <p:spPr>
          <a:xfrm>
            <a:off x="5815584" y="1947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 txBox="1"/>
          <p:nvPr/>
        </p:nvSpPr>
        <p:spPr>
          <a:xfrm>
            <a:off x="5138928" y="2606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FID Score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5175504" y="3291840"/>
            <a:ext cx="175564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050"/>
              <a:buFont typeface="Calibri"/>
              <a:buNone/>
            </a:pPr>
            <a:r>
              <a:rPr lang="en-US" sz="18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Compute Fréchet Inception Distance for quantitative quality benchmarking.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0"/>
          <p:cNvSpPr/>
          <p:nvPr/>
        </p:nvSpPr>
        <p:spPr>
          <a:xfrm>
            <a:off x="7242048" y="1691640"/>
            <a:ext cx="2084832" cy="4206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385" name="Google Shape;385;p20"/>
          <p:cNvSpPr/>
          <p:nvPr/>
        </p:nvSpPr>
        <p:spPr>
          <a:xfrm>
            <a:off x="8046720" y="1947672"/>
            <a:ext cx="475488" cy="475488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20"/>
          <p:cNvSpPr txBox="1"/>
          <p:nvPr/>
        </p:nvSpPr>
        <p:spPr>
          <a:xfrm>
            <a:off x="8046720" y="1947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0"/>
          <p:cNvSpPr txBox="1"/>
          <p:nvPr/>
        </p:nvSpPr>
        <p:spPr>
          <a:xfrm>
            <a:off x="7370064" y="2606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Label Smoothing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0"/>
          <p:cNvSpPr txBox="1"/>
          <p:nvPr/>
        </p:nvSpPr>
        <p:spPr>
          <a:xfrm>
            <a:off x="7406640" y="3291840"/>
            <a:ext cx="175564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050"/>
              <a:buFont typeface="Calibri"/>
              <a:buNone/>
            </a:pPr>
            <a:r>
              <a:rPr lang="en-US" sz="18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Smooth real labels or slow the Discriminator to rebalance training.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9473184" y="1691640"/>
            <a:ext cx="2084832" cy="42062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>
            <a:noFill/>
          </a:ln>
          <a:effectLst>
            <a:outerShdw blurRad="101600" dist="25400" dir="5400000" algn="bl" rotWithShape="0">
              <a:srgbClr val="3A3A55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/>
          </a:p>
        </p:txBody>
      </p:sp>
      <p:sp>
        <p:nvSpPr>
          <p:cNvPr id="390" name="Google Shape;390;p20"/>
          <p:cNvSpPr/>
          <p:nvPr/>
        </p:nvSpPr>
        <p:spPr>
          <a:xfrm>
            <a:off x="10277856" y="1947672"/>
            <a:ext cx="475488" cy="475488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0"/>
          <p:cNvSpPr txBox="1"/>
          <p:nvPr/>
        </p:nvSpPr>
        <p:spPr>
          <a:xfrm>
            <a:off x="10277856" y="1947672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800"/>
              <a:buFont typeface="Cambria"/>
              <a:buNone/>
            </a:pPr>
            <a:r>
              <a:rPr lang="en-US" sz="18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9601200" y="26060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Data Augmentation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9637776" y="3291840"/>
            <a:ext cx="1755648" cy="237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050"/>
              <a:buFont typeface="Calibri"/>
              <a:buNone/>
            </a:pPr>
            <a:r>
              <a:rPr lang="en-US" sz="18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Use generated digits to augment classifiers trained on imbalanced data.</a:t>
            </a:r>
            <a:endParaRPr sz="1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C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1"/>
          <p:cNvSpPr txBox="1"/>
          <p:nvPr/>
        </p:nvSpPr>
        <p:spPr>
          <a:xfrm>
            <a:off x="548640" y="457200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3000"/>
              <a:buFont typeface="Cambria"/>
              <a:buNone/>
            </a:pPr>
            <a:r>
              <a:rPr lang="en-US" sz="45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Individual Contributions</a:t>
            </a:r>
            <a:endParaRPr sz="4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1"/>
          <p:cNvSpPr txBox="1"/>
          <p:nvPr/>
        </p:nvSpPr>
        <p:spPr>
          <a:xfrm>
            <a:off x="566928" y="2560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1150"/>
              <a:buFont typeface="Calibri"/>
              <a:buNone/>
            </a:pPr>
            <a:r>
              <a:rPr lang="en-US" sz="2000" b="1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11 · TEAM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548640" y="160020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bl" rotWithShape="0">
              <a:srgbClr val="3A3A55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841248" y="1892808"/>
            <a:ext cx="640200" cy="640200"/>
          </a:xfrm>
          <a:prstGeom prst="ellipse">
            <a:avLst/>
          </a:prstGeom>
          <a:solidFill>
            <a:srgbClr val="BFE3D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05" name="Google Shape;405;p21" descr="/tmp/gan_ppt/icons/users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05840" y="205740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1"/>
          <p:cNvSpPr txBox="1"/>
          <p:nvPr/>
        </p:nvSpPr>
        <p:spPr>
          <a:xfrm>
            <a:off x="822960" y="2679192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700"/>
              <a:buFont typeface="Cambria"/>
              <a:buNone/>
            </a:pPr>
            <a:r>
              <a:rPr lang="en-US" sz="1700" b="1" i="0" u="none" strike="noStrike" cap="none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Amrith Saras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841248" y="3383280"/>
            <a:ext cx="2953512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200025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Designed and implemented the Generator architecture and full training loop.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00025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Implemented the latent space interpolation experiment.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200025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Set up the GPU training environment (CUDA PyTorch).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4325112" y="160020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bl" rotWithShape="0">
              <a:srgbClr val="3A3A55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1"/>
          <p:cNvSpPr/>
          <p:nvPr/>
        </p:nvSpPr>
        <p:spPr>
          <a:xfrm>
            <a:off x="4617720" y="1892808"/>
            <a:ext cx="640080" cy="640080"/>
          </a:xfrm>
          <a:prstGeom prst="ellipse">
            <a:avLst/>
          </a:prstGeom>
          <a:solidFill>
            <a:srgbClr val="F6C6C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0" name="Google Shape;410;p21" descr="/tmp/gan_ppt/icons/users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2312" y="205740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21"/>
          <p:cNvSpPr txBox="1"/>
          <p:nvPr/>
        </p:nvSpPr>
        <p:spPr>
          <a:xfrm>
            <a:off x="4599432" y="2679192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Diya Jothish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4617720" y="3383280"/>
            <a:ext cx="2953512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23850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Verified model saving and loading.</a:t>
            </a:r>
            <a:endParaRPr sz="1500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Designed and implemented the Discriminator architecture and weight initialisation.</a:t>
            </a:r>
            <a:endParaRPr sz="1500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238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Coded all visualisation functions: epoch grids, loss curves, real vs fake.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1"/>
          <p:cNvSpPr/>
          <p:nvPr/>
        </p:nvSpPr>
        <p:spPr>
          <a:xfrm>
            <a:off x="8101584" y="1600200"/>
            <a:ext cx="3538728" cy="4526280"/>
          </a:xfrm>
          <a:prstGeom prst="roundRect">
            <a:avLst>
              <a:gd name="adj" fmla="val 2584"/>
            </a:avLst>
          </a:prstGeom>
          <a:solidFill>
            <a:srgbClr val="FFFFFF"/>
          </a:solidFill>
          <a:ln>
            <a:noFill/>
          </a:ln>
          <a:effectLst>
            <a:outerShdw blurRad="114300" dist="25400" dir="5400000" algn="bl" rotWithShape="0">
              <a:srgbClr val="3A3A55">
                <a:alpha val="1294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21"/>
          <p:cNvSpPr/>
          <p:nvPr/>
        </p:nvSpPr>
        <p:spPr>
          <a:xfrm>
            <a:off x="8394192" y="1892808"/>
            <a:ext cx="640200" cy="640200"/>
          </a:xfrm>
          <a:prstGeom prst="ellipse">
            <a:avLst/>
          </a:prstGeom>
          <a:solidFill>
            <a:srgbClr val="A8B8E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5" name="Google Shape;415;p21" descr="/tmp/gan_ppt/icons/users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58784" y="2057400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1"/>
          <p:cNvSpPr txBox="1"/>
          <p:nvPr/>
        </p:nvSpPr>
        <p:spPr>
          <a:xfrm>
            <a:off x="8375904" y="2679192"/>
            <a:ext cx="299008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700"/>
              <a:buFont typeface="Cambria"/>
              <a:buNone/>
            </a:pPr>
            <a:r>
              <a:rPr lang="en-US" sz="1700" b="1">
                <a:solidFill>
                  <a:srgbClr val="2E2E3A"/>
                </a:solidFill>
                <a:latin typeface="Cambria"/>
                <a:ea typeface="Cambria"/>
                <a:cs typeface="Cambria"/>
                <a:sym typeface="Cambria"/>
              </a:rPr>
              <a:t>Annabel Marianne Victor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1"/>
          <p:cNvSpPr txBox="1"/>
          <p:nvPr/>
        </p:nvSpPr>
        <p:spPr>
          <a:xfrm>
            <a:off x="8394192" y="3383280"/>
            <a:ext cx="2953512" cy="260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marR="0" lvl="0" indent="-3238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 b="0" i="0" u="none" strike="noStrike" cap="none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Handled MNIST data loading, normalisation and DataLoader setup.</a:t>
            </a:r>
            <a:endParaRPr sz="1500" b="0" i="0" u="none" strike="noStrike" cap="none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Analysed training dynamics and documented the results.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2385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2E2E3A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2E2E3A"/>
                </a:solidFill>
                <a:latin typeface="Calibri"/>
                <a:ea typeface="Calibri"/>
                <a:cs typeface="Calibri"/>
                <a:sym typeface="Calibri"/>
              </a:rPr>
              <a:t>Verified generated image quality across epochs.</a:t>
            </a:r>
            <a:endParaRPr sz="1500">
              <a:solidFill>
                <a:srgbClr val="2E2E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1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GAN-Based Handwritten Digit Generation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1"/>
          <p:cNvSpPr txBox="1"/>
          <p:nvPr/>
        </p:nvSpPr>
        <p:spPr>
          <a:xfrm>
            <a:off x="11274552" y="64922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E6E82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E6E82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A4A"/>
        </a:solid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2"/>
          <p:cNvSpPr txBox="1"/>
          <p:nvPr/>
        </p:nvSpPr>
        <p:spPr>
          <a:xfrm>
            <a:off x="0" y="2914035"/>
            <a:ext cx="12189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2"/>
          <p:cNvSpPr txBox="1"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7C9E2"/>
              </a:buClr>
              <a:buSzPts val="1300"/>
              <a:buFont typeface="Calibri"/>
              <a:buNone/>
            </a:pPr>
            <a:r>
              <a:rPr lang="en-US" sz="2000" b="1" i="0" u="none" strike="noStrike" cap="none">
                <a:solidFill>
                  <a:srgbClr val="C7C9E2"/>
                </a:solidFill>
                <a:latin typeface="Calibri"/>
                <a:ea typeface="Calibri"/>
                <a:cs typeface="Calibri"/>
                <a:sym typeface="Calibri"/>
              </a:rPr>
              <a:t>Amrith Saras   ·   Annabel Marianne Victor   ·   Diya Jothish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0" y="4919472"/>
            <a:ext cx="12188952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9496BE"/>
              </a:buClr>
              <a:buSzPts val="1100"/>
              <a:buFont typeface="Calibri"/>
              <a:buNone/>
            </a:pPr>
            <a:r>
              <a:rPr lang="en-US" sz="1500" b="0" i="0" u="none" strike="noStrike" cap="none">
                <a:solidFill>
                  <a:srgbClr val="9496BE"/>
                </a:solidFill>
                <a:latin typeface="Calibri"/>
                <a:ea typeface="Calibri"/>
                <a:cs typeface="Calibri"/>
                <a:sym typeface="Calibri"/>
              </a:rPr>
              <a:t>A15  ·  102903 / CO701B  Deep Learning  ·  Rajagiri School of Engineering &amp; Technology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1658</Words>
  <Application>Microsoft Office PowerPoint</Application>
  <PresentationFormat>Widescreen</PresentationFormat>
  <Paragraphs>267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Amrith Saras</cp:lastModifiedBy>
  <cp:revision>1</cp:revision>
  <dcterms:modified xsi:type="dcterms:W3CDTF">2026-09-08T14:52:13Z</dcterms:modified>
</cp:coreProperties>
</file>