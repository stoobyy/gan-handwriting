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</p:sldIdLst>
  <p:sldSz cy="6858000" cx="12192000"/>
  <p:notesSz cx="6858000" cy="12192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97020A8-79D1-4FB3-AEF3-38DB3644C332}">
  <a:tblStyle styleId="{B97020A8-79D1-4FB3-AEF3-38DB3644C33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slide" Target="slides/slide20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" name="Google Shape;2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" name="Google Shape;29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1" name="Google Shape;4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" name="Google Shape;42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" name="Google Shape;74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" name="Google Shape;75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2" name="Google Shape;102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0" name="Google Shape;16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" name="Google Shape;16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8" name="Google Shape;18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6" name="Google Shape;21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4" name="Google Shape;24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6" name="Google Shape;256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7" name="Google Shape;257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8" name="Google Shape;268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9" name="Google Shape;269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9" name="Google Shape;2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0" name="Google Shape;290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1" name="Google Shape;301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5" name="Google Shape;31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6" name="Google Shape;316;p1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7" name="Google Shape;327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8" name="Google Shape;328;p1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2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4" name="Google Shape;344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5" name="Google Shape;345;p1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2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4" name="Google Shape;364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5" name="Google Shape;365;p1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8" name="Google Shape;398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9" name="Google Shape;399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2" name="Google Shape;422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3" name="Google Shape;423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1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3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2B2A4A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>
            <a:off x="8138140" y="-756490"/>
            <a:ext cx="4206300" cy="4206300"/>
          </a:xfrm>
          <a:prstGeom prst="ellipse">
            <a:avLst/>
          </a:prstGeom>
          <a:solidFill>
            <a:srgbClr val="34335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p3"/>
          <p:cNvSpPr/>
          <p:nvPr/>
        </p:nvSpPr>
        <p:spPr>
          <a:xfrm>
            <a:off x="0" y="4212200"/>
            <a:ext cx="2651400" cy="2645700"/>
          </a:xfrm>
          <a:prstGeom prst="ellipse">
            <a:avLst/>
          </a:prstGeom>
          <a:solidFill>
            <a:srgbClr val="A8B8E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" name="Google Shape;18;p3"/>
          <p:cNvSpPr/>
          <p:nvPr/>
        </p:nvSpPr>
        <p:spPr>
          <a:xfrm>
            <a:off x="8936200" y="3860125"/>
            <a:ext cx="3255900" cy="2997900"/>
          </a:xfrm>
          <a:prstGeom prst="ellipse">
            <a:avLst/>
          </a:prstGeom>
          <a:solidFill>
            <a:srgbClr val="F6C6C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" name="Google Shape;19;p3"/>
          <p:cNvSpPr txBox="1"/>
          <p:nvPr/>
        </p:nvSpPr>
        <p:spPr>
          <a:xfrm>
            <a:off x="822960" y="1417320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B8E8"/>
              </a:buClr>
              <a:buSzPts val="1300"/>
              <a:buFont typeface="Calibri"/>
              <a:buNone/>
            </a:pPr>
            <a:r>
              <a:rPr b="1" i="0" lang="en-US" sz="2000" u="none" cap="none" strike="noStrike">
                <a:solidFill>
                  <a:srgbClr val="A8B8E8"/>
                </a:solidFill>
                <a:latin typeface="Calibri"/>
                <a:ea typeface="Calibri"/>
                <a:cs typeface="Calibri"/>
                <a:sym typeface="Calibri"/>
              </a:rPr>
              <a:t> DEEP LEARNING PROJECT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3"/>
          <p:cNvSpPr txBox="1"/>
          <p:nvPr/>
        </p:nvSpPr>
        <p:spPr>
          <a:xfrm>
            <a:off x="822960" y="1874520"/>
            <a:ext cx="932688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200"/>
              <a:buFont typeface="Cambria"/>
              <a:buNone/>
            </a:pPr>
            <a:r>
              <a:rPr b="1" i="0" lang="en-US" sz="45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GAN-Based Synthetic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200"/>
              <a:buFont typeface="Cambria"/>
              <a:buNone/>
            </a:pPr>
            <a:r>
              <a:rPr b="1" i="0" lang="en-US" sz="45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Handwritten Digit Generation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3"/>
          <p:cNvSpPr txBox="1"/>
          <p:nvPr/>
        </p:nvSpPr>
        <p:spPr>
          <a:xfrm>
            <a:off x="0" y="3449738"/>
            <a:ext cx="12192000" cy="52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7C9E2"/>
              </a:buClr>
              <a:buSzPts val="1500"/>
              <a:buFont typeface="Calibri"/>
              <a:buNone/>
            </a:pPr>
            <a:r>
              <a:rPr b="0" i="1" lang="en-US" sz="2000" u="none" cap="none" strike="noStrike">
                <a:solidFill>
                  <a:srgbClr val="C7C9E2"/>
                </a:solidFill>
                <a:latin typeface="Calibri"/>
                <a:ea typeface="Calibri"/>
                <a:cs typeface="Calibri"/>
                <a:sym typeface="Calibri"/>
              </a:rPr>
              <a:t>Training a Generative Adversarial Network to synthesise novel handwritten digits from the MNIST dataset.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3"/>
          <p:cNvSpPr/>
          <p:nvPr/>
        </p:nvSpPr>
        <p:spPr>
          <a:xfrm>
            <a:off x="822960" y="4526280"/>
            <a:ext cx="7863840" cy="1417320"/>
          </a:xfrm>
          <a:prstGeom prst="roundRect">
            <a:avLst>
              <a:gd fmla="val 6452" name="adj"/>
            </a:avLst>
          </a:prstGeom>
          <a:solidFill>
            <a:srgbClr val="34335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" name="Google Shape;23;p3"/>
          <p:cNvSpPr txBox="1"/>
          <p:nvPr/>
        </p:nvSpPr>
        <p:spPr>
          <a:xfrm>
            <a:off x="1097280" y="466344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B8E8"/>
              </a:buClr>
              <a:buSzPts val="1050"/>
              <a:buFont typeface="Calibri"/>
              <a:buNone/>
            </a:pPr>
            <a:r>
              <a:rPr b="1" i="0" lang="en-US" sz="2000" u="none" cap="none" strike="noStrike">
                <a:solidFill>
                  <a:srgbClr val="A8B8E8"/>
                </a:solidFill>
                <a:latin typeface="Calibri"/>
                <a:ea typeface="Calibri"/>
                <a:cs typeface="Calibri"/>
                <a:sym typeface="Calibri"/>
              </a:rPr>
              <a:t>PROJECT TEAM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3"/>
          <p:cNvSpPr txBox="1"/>
          <p:nvPr/>
        </p:nvSpPr>
        <p:spPr>
          <a:xfrm>
            <a:off x="1097280" y="4956048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Amrith Saras     ·     Annabel Marianne Victor     ·     Diya Jothish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p3"/>
          <p:cNvSpPr txBox="1"/>
          <p:nvPr/>
        </p:nvSpPr>
        <p:spPr>
          <a:xfrm>
            <a:off x="1097280" y="544068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7C9E2"/>
              </a:buClr>
              <a:buSzPts val="1200"/>
              <a:buFont typeface="Calibri"/>
              <a:buNone/>
            </a:pPr>
            <a:r>
              <a:rPr b="0" i="0" lang="en-US" sz="1800" u="none" cap="none" strike="noStrike">
                <a:solidFill>
                  <a:srgbClr val="C7C9E2"/>
                </a:solidFill>
                <a:latin typeface="Calibri"/>
                <a:ea typeface="Calibri"/>
                <a:cs typeface="Calibri"/>
                <a:sym typeface="Calibri"/>
              </a:rPr>
              <a:t>102903 / CO701B  Deep Learning</a:t>
            </a:r>
            <a:r>
              <a:rPr b="0" i="0" lang="en-US" sz="1800" u="none" cap="none" strike="noStrike">
                <a:solidFill>
                  <a:srgbClr val="C7C9E2"/>
                </a:solidFill>
                <a:latin typeface="Calibri"/>
                <a:ea typeface="Calibri"/>
                <a:cs typeface="Calibri"/>
                <a:sym typeface="Calibri"/>
              </a:rPr>
              <a:t>|</a:t>
            </a:r>
            <a:r>
              <a:rPr b="0" i="0" lang="en-US" sz="1800" u="none" cap="none" strike="noStrike">
                <a:solidFill>
                  <a:srgbClr val="C7C9E2"/>
                </a:solidFill>
                <a:latin typeface="Calibri"/>
                <a:ea typeface="Calibri"/>
                <a:cs typeface="Calibri"/>
                <a:sym typeface="Calibri"/>
              </a:rPr>
              <a:t>Rajagiri School of Engineering &amp; Technology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C"/>
        </a:solidFill>
      </p:bgPr>
    </p:bg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/>
        </p:nvSpPr>
        <p:spPr>
          <a:xfrm>
            <a:off x="548640" y="457200"/>
            <a:ext cx="96926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3000"/>
              <a:buFont typeface="Cambria"/>
              <a:buNone/>
            </a:pPr>
            <a:r>
              <a:rPr b="1" i="0" lang="en-US" sz="4500" u="none" cap="none" strike="noStrik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Problem Statement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4"/>
          <p:cNvSpPr txBox="1"/>
          <p:nvPr/>
        </p:nvSpPr>
        <p:spPr>
          <a:xfrm>
            <a:off x="566928" y="256032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150"/>
              <a:buFont typeface="Calibri"/>
              <a:buNone/>
            </a:pPr>
            <a:r>
              <a:rPr b="1" i="0" lang="en-US" sz="20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01 · DEFINING THE CHALLENGE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4"/>
          <p:cNvSpPr txBox="1"/>
          <p:nvPr/>
        </p:nvSpPr>
        <p:spPr>
          <a:xfrm>
            <a:off x="548640" y="1600200"/>
            <a:ext cx="6035040" cy="4206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06375" lvl="0" marL="17780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2000"/>
              <a:buFont typeface="Calibri"/>
              <a:buChar char="●"/>
            </a:pPr>
            <a:r>
              <a:rPr b="0" i="1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Handwritten digit recognition is a well studied classification task with mature, high accuracy solutions.</a:t>
            </a:r>
            <a:endParaRPr i="1" sz="2000">
              <a:solidFill>
                <a:srgbClr val="2E2E3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06375" lvl="0" marL="177800" marR="0" rtl="0" algn="l">
              <a:lnSpc>
                <a:spcPct val="108000"/>
              </a:lnSpc>
              <a:spcBef>
                <a:spcPts val="1800"/>
              </a:spcBef>
              <a:spcAft>
                <a:spcPts val="0"/>
              </a:spcAft>
              <a:buClr>
                <a:srgbClr val="2E2E3A"/>
              </a:buClr>
              <a:buSzPts val="2000"/>
              <a:buFont typeface="Calibri"/>
              <a:buChar char="●"/>
            </a:pPr>
            <a:r>
              <a:rPr b="0" i="1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Generating realistic synthetic digits from random noise is a fundamentally different and harder problem: </a:t>
            </a:r>
            <a:r>
              <a:rPr i="1" lang="en-US" sz="2000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T</a:t>
            </a:r>
            <a:r>
              <a:rPr b="0" i="1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he model must learn the underlying data distribution, not just a decision boundary.</a:t>
            </a:r>
            <a:endParaRPr b="0" i="1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06375" lvl="0" marL="177800" marR="0" rtl="0" algn="l">
              <a:lnSpc>
                <a:spcPct val="108000"/>
              </a:lnSpc>
              <a:spcBef>
                <a:spcPts val="1800"/>
              </a:spcBef>
              <a:spcAft>
                <a:spcPts val="0"/>
              </a:spcAft>
              <a:buClr>
                <a:srgbClr val="2E2E3A"/>
              </a:buClr>
              <a:buSzPts val="2000"/>
              <a:buFont typeface="Calibri"/>
              <a:buChar char="●"/>
            </a:pPr>
            <a:r>
              <a:rPr b="0" i="1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This project implements a Generative Adversarial Network trained on MNIST to learn that distribution and produce novel, visually plausible handwritten digit images.</a:t>
            </a:r>
            <a:endParaRPr b="0" i="1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4"/>
          <p:cNvSpPr/>
          <p:nvPr/>
        </p:nvSpPr>
        <p:spPr>
          <a:xfrm>
            <a:off x="6903720" y="1600200"/>
            <a:ext cx="4709160" cy="4480560"/>
          </a:xfrm>
          <a:prstGeom prst="roundRect">
            <a:avLst>
              <a:gd fmla="val 2041" name="adj"/>
            </a:avLst>
          </a:prstGeom>
          <a:solidFill>
            <a:srgbClr val="5D6FB0"/>
          </a:solidFill>
          <a:ln>
            <a:noFill/>
          </a:ln>
          <a:effectLst>
            <a:outerShdw blurRad="127000" rotWithShape="0" algn="bl" dir="5400000" dist="38100">
              <a:srgbClr val="3A3A55">
                <a:alpha val="1490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tmp/gan_ppt/assets/real_samples.png" id="35" name="Google Shape;35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4052" y="1856232"/>
            <a:ext cx="3968496" cy="3968496"/>
          </a:xfrm>
          <a:prstGeom prst="rect">
            <a:avLst/>
          </a:prstGeom>
          <a:noFill/>
          <a:ln>
            <a:noFill/>
          </a:ln>
        </p:spPr>
      </p:pic>
      <p:sp>
        <p:nvSpPr>
          <p:cNvPr id="36" name="Google Shape;36;p4"/>
          <p:cNvSpPr txBox="1"/>
          <p:nvPr/>
        </p:nvSpPr>
        <p:spPr>
          <a:xfrm>
            <a:off x="6903720" y="6108192"/>
            <a:ext cx="47091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050"/>
              <a:buFont typeface="Calibri"/>
              <a:buNone/>
            </a:pPr>
            <a:r>
              <a:rPr b="0" i="1" lang="en-US" sz="17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Real MNIST handwritten digits: the target distribution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4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GAN-Based Handwritten Digit Generation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4"/>
          <p:cNvSpPr txBox="1"/>
          <p:nvPr/>
        </p:nvSpPr>
        <p:spPr>
          <a:xfrm>
            <a:off x="11274552" y="649224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C"/>
        </a:solid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5"/>
          <p:cNvSpPr txBox="1"/>
          <p:nvPr/>
        </p:nvSpPr>
        <p:spPr>
          <a:xfrm>
            <a:off x="548640" y="457200"/>
            <a:ext cx="96926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3000"/>
              <a:buFont typeface="Cambria"/>
              <a:buNone/>
            </a:pPr>
            <a:r>
              <a:rPr b="1" i="0" lang="en-US" sz="4500" u="none" cap="none" strike="noStrik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Objectives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5"/>
          <p:cNvSpPr txBox="1"/>
          <p:nvPr/>
        </p:nvSpPr>
        <p:spPr>
          <a:xfrm>
            <a:off x="566928" y="256032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150"/>
              <a:buFont typeface="Calibri"/>
              <a:buNone/>
            </a:pPr>
            <a:r>
              <a:rPr b="1" i="0" lang="en-US" sz="20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02 · WHAT WE SET OUT TO DO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5"/>
          <p:cNvSpPr/>
          <p:nvPr/>
        </p:nvSpPr>
        <p:spPr>
          <a:xfrm>
            <a:off x="548640" y="1600200"/>
            <a:ext cx="5349240" cy="1481328"/>
          </a:xfrm>
          <a:prstGeom prst="roundRect">
            <a:avLst>
              <a:gd fmla="val 5556" name="adj"/>
            </a:avLst>
          </a:prstGeom>
          <a:solidFill>
            <a:srgbClr val="FFFFFF"/>
          </a:solidFill>
          <a:ln>
            <a:noFill/>
          </a:ln>
          <a:effectLst>
            <a:outerShdw blurRad="101600" rotWithShape="0" algn="bl" dir="5400000" dist="25400">
              <a:srgbClr val="3A3A55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" name="Google Shape;47;p5"/>
          <p:cNvSpPr/>
          <p:nvPr/>
        </p:nvSpPr>
        <p:spPr>
          <a:xfrm>
            <a:off x="749808" y="2057400"/>
            <a:ext cx="566928" cy="566928"/>
          </a:xfrm>
          <a:prstGeom prst="ellipse">
            <a:avLst/>
          </a:prstGeom>
          <a:solidFill>
            <a:srgbClr val="A8B8E8"/>
          </a:solidFill>
          <a:ln>
            <a:noFill/>
          </a:ln>
          <a:effectLst>
            <a:outerShdw blurRad="101600" rotWithShape="0" algn="bl" dir="5400000" dist="25400">
              <a:srgbClr val="3A3A55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tmp/gan_ppt/icons/diagram_dark.png" id="48" name="Google Shape;48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9178" y="2136770"/>
            <a:ext cx="408188" cy="408188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5"/>
          <p:cNvSpPr txBox="1"/>
          <p:nvPr/>
        </p:nvSpPr>
        <p:spPr>
          <a:xfrm>
            <a:off x="1508760" y="1728216"/>
            <a:ext cx="4206240" cy="12252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250"/>
              <a:buFont typeface="Calibri"/>
              <a:buNone/>
            </a:pPr>
            <a:r>
              <a:rPr b="0" i="1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Understand the GAN framework: </a:t>
            </a:r>
            <a:r>
              <a:rPr i="1" lang="en-US" sz="2000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T</a:t>
            </a:r>
            <a:r>
              <a:rPr b="0" i="1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he competing objectives of Generator and Discriminator.</a:t>
            </a:r>
            <a:endParaRPr b="0" i="1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5"/>
          <p:cNvSpPr/>
          <p:nvPr/>
        </p:nvSpPr>
        <p:spPr>
          <a:xfrm>
            <a:off x="6263640" y="1600200"/>
            <a:ext cx="5349240" cy="1481328"/>
          </a:xfrm>
          <a:prstGeom prst="roundRect">
            <a:avLst>
              <a:gd fmla="val 5556" name="adj"/>
            </a:avLst>
          </a:prstGeom>
          <a:solidFill>
            <a:srgbClr val="FFFFFF"/>
          </a:solidFill>
          <a:ln>
            <a:noFill/>
          </a:ln>
          <a:effectLst>
            <a:outerShdw blurRad="101600" rotWithShape="0" algn="bl" dir="5400000" dist="25400">
              <a:srgbClr val="3A3A55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" name="Google Shape;51;p5"/>
          <p:cNvSpPr/>
          <p:nvPr/>
        </p:nvSpPr>
        <p:spPr>
          <a:xfrm>
            <a:off x="6464808" y="2057400"/>
            <a:ext cx="566928" cy="566928"/>
          </a:xfrm>
          <a:prstGeom prst="ellipse">
            <a:avLst/>
          </a:prstGeom>
          <a:solidFill>
            <a:srgbClr val="F6C6C0"/>
          </a:solidFill>
          <a:ln>
            <a:noFill/>
          </a:ln>
          <a:effectLst>
            <a:outerShdw blurRad="101600" rotWithShape="0" algn="bl" dir="5400000" dist="25400">
              <a:srgbClr val="3A3A55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tmp/gan_ppt/icons/layers_dark.png" id="52" name="Google Shape;52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544178" y="2136770"/>
            <a:ext cx="408188" cy="408188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5"/>
          <p:cNvSpPr txBox="1"/>
          <p:nvPr/>
        </p:nvSpPr>
        <p:spPr>
          <a:xfrm>
            <a:off x="7223760" y="1728216"/>
            <a:ext cx="4206240" cy="12252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250"/>
              <a:buFont typeface="Calibri"/>
              <a:buNone/>
            </a:pPr>
            <a:r>
              <a:rPr b="0" i="1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Implement a GAN with two competing networks, trained end to end in PyTorch.</a:t>
            </a:r>
            <a:endParaRPr b="0" i="1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5"/>
          <p:cNvSpPr/>
          <p:nvPr/>
        </p:nvSpPr>
        <p:spPr>
          <a:xfrm>
            <a:off x="548640" y="3246120"/>
            <a:ext cx="5349240" cy="1481328"/>
          </a:xfrm>
          <a:prstGeom prst="roundRect">
            <a:avLst>
              <a:gd fmla="val 5556" name="adj"/>
            </a:avLst>
          </a:prstGeom>
          <a:solidFill>
            <a:srgbClr val="FFFFFF"/>
          </a:solidFill>
          <a:ln>
            <a:noFill/>
          </a:ln>
          <a:effectLst>
            <a:outerShdw blurRad="101600" rotWithShape="0" algn="bl" dir="5400000" dist="25400">
              <a:srgbClr val="3A3A55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" name="Google Shape;55;p5"/>
          <p:cNvSpPr/>
          <p:nvPr/>
        </p:nvSpPr>
        <p:spPr>
          <a:xfrm>
            <a:off x="749808" y="3703320"/>
            <a:ext cx="566928" cy="566928"/>
          </a:xfrm>
          <a:prstGeom prst="ellipse">
            <a:avLst/>
          </a:prstGeom>
          <a:solidFill>
            <a:srgbClr val="BFE3D0"/>
          </a:solidFill>
          <a:ln>
            <a:noFill/>
          </a:ln>
          <a:effectLst>
            <a:outerShdw blurRad="101600" rotWithShape="0" algn="bl" dir="5400000" dist="25400">
              <a:srgbClr val="3A3A55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tmp/gan_ppt/icons/dataset_dark.png" id="56" name="Google Shape;56;p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29178" y="3782690"/>
            <a:ext cx="408188" cy="408188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5"/>
          <p:cNvSpPr txBox="1"/>
          <p:nvPr/>
        </p:nvSpPr>
        <p:spPr>
          <a:xfrm>
            <a:off x="1508760" y="3374136"/>
            <a:ext cx="4206240" cy="12252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250"/>
              <a:buFont typeface="Calibri"/>
              <a:buNone/>
            </a:pPr>
            <a:r>
              <a:rPr b="0" i="1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Train the model on the full MNIST dataset</a:t>
            </a:r>
            <a:r>
              <a:rPr i="1" lang="en-US" sz="2000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- </a:t>
            </a:r>
            <a:r>
              <a:rPr b="0" i="1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all 60,000 greyscale handwritten digit images.</a:t>
            </a:r>
            <a:endParaRPr b="0" i="1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5"/>
          <p:cNvSpPr/>
          <p:nvPr/>
        </p:nvSpPr>
        <p:spPr>
          <a:xfrm>
            <a:off x="6263640" y="3246120"/>
            <a:ext cx="5349240" cy="1481328"/>
          </a:xfrm>
          <a:prstGeom prst="roundRect">
            <a:avLst>
              <a:gd fmla="val 5556" name="adj"/>
            </a:avLst>
          </a:prstGeom>
          <a:solidFill>
            <a:srgbClr val="FFFFFF"/>
          </a:solidFill>
          <a:ln>
            <a:noFill/>
          </a:ln>
          <a:effectLst>
            <a:outerShdw blurRad="101600" rotWithShape="0" algn="bl" dir="5400000" dist="25400">
              <a:srgbClr val="3A3A55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p5"/>
          <p:cNvSpPr/>
          <p:nvPr/>
        </p:nvSpPr>
        <p:spPr>
          <a:xfrm>
            <a:off x="6464808" y="3703320"/>
            <a:ext cx="566928" cy="566928"/>
          </a:xfrm>
          <a:prstGeom prst="ellipse">
            <a:avLst/>
          </a:prstGeom>
          <a:solidFill>
            <a:srgbClr val="A8B8E8"/>
          </a:solidFill>
          <a:ln>
            <a:noFill/>
          </a:ln>
          <a:effectLst>
            <a:outerShdw blurRad="101600" rotWithShape="0" algn="bl" dir="5400000" dist="25400">
              <a:srgbClr val="3A3A55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tmp/gan_ppt/icons/images_dark.png" id="60" name="Google Shape;60;p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544178" y="3782690"/>
            <a:ext cx="408188" cy="408188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5"/>
          <p:cNvSpPr txBox="1"/>
          <p:nvPr/>
        </p:nvSpPr>
        <p:spPr>
          <a:xfrm>
            <a:off x="7223760" y="3374136"/>
            <a:ext cx="4206240" cy="12252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250"/>
              <a:buFont typeface="Calibri"/>
              <a:buNone/>
            </a:pPr>
            <a:r>
              <a:rPr b="0" i="1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Generate novel synthetic handwritten digits from random Gaussian noise.</a:t>
            </a:r>
            <a:endParaRPr b="0" i="1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5"/>
          <p:cNvSpPr/>
          <p:nvPr/>
        </p:nvSpPr>
        <p:spPr>
          <a:xfrm>
            <a:off x="548640" y="4892040"/>
            <a:ext cx="5349240" cy="1481328"/>
          </a:xfrm>
          <a:prstGeom prst="roundRect">
            <a:avLst>
              <a:gd fmla="val 5556" name="adj"/>
            </a:avLst>
          </a:prstGeom>
          <a:solidFill>
            <a:srgbClr val="FFFFFF"/>
          </a:solidFill>
          <a:ln>
            <a:noFill/>
          </a:ln>
          <a:effectLst>
            <a:outerShdw blurRad="101600" rotWithShape="0" algn="bl" dir="5400000" dist="25400">
              <a:srgbClr val="3A3A55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5"/>
          <p:cNvSpPr/>
          <p:nvPr/>
        </p:nvSpPr>
        <p:spPr>
          <a:xfrm>
            <a:off x="749808" y="5349240"/>
            <a:ext cx="566928" cy="566928"/>
          </a:xfrm>
          <a:prstGeom prst="ellipse">
            <a:avLst/>
          </a:prstGeom>
          <a:solidFill>
            <a:srgbClr val="F6C6C0"/>
          </a:solidFill>
          <a:ln>
            <a:noFill/>
          </a:ln>
          <a:effectLst>
            <a:outerShdw blurRad="101600" rotWithShape="0" algn="bl" dir="5400000" dist="25400">
              <a:srgbClr val="3A3A55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tmp/gan_ppt/icons/chart_dark.png" id="64" name="Google Shape;64;p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29178" y="5428610"/>
            <a:ext cx="408188" cy="408188"/>
          </a:xfrm>
          <a:prstGeom prst="rect">
            <a:avLst/>
          </a:prstGeom>
          <a:noFill/>
          <a:ln>
            <a:noFill/>
          </a:ln>
        </p:spPr>
      </p:pic>
      <p:sp>
        <p:nvSpPr>
          <p:cNvPr id="65" name="Google Shape;65;p5"/>
          <p:cNvSpPr txBox="1"/>
          <p:nvPr/>
        </p:nvSpPr>
        <p:spPr>
          <a:xfrm>
            <a:off x="1508760" y="5020056"/>
            <a:ext cx="4206240" cy="12252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250"/>
              <a:buFont typeface="Calibri"/>
              <a:buNone/>
            </a:pPr>
            <a:r>
              <a:rPr b="0" i="1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Analyse generation quality through training dynamics and visual inspection.</a:t>
            </a:r>
            <a:endParaRPr b="0" i="1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5"/>
          <p:cNvSpPr/>
          <p:nvPr/>
        </p:nvSpPr>
        <p:spPr>
          <a:xfrm>
            <a:off x="6263640" y="4892040"/>
            <a:ext cx="5349240" cy="1481328"/>
          </a:xfrm>
          <a:prstGeom prst="roundRect">
            <a:avLst>
              <a:gd fmla="val 5556" name="adj"/>
            </a:avLst>
          </a:prstGeom>
          <a:solidFill>
            <a:srgbClr val="FFFFFF"/>
          </a:solidFill>
          <a:ln>
            <a:noFill/>
          </a:ln>
          <a:effectLst>
            <a:outerShdw blurRad="101600" rotWithShape="0" algn="bl" dir="5400000" dist="25400">
              <a:srgbClr val="3A3A55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" name="Google Shape;67;p5"/>
          <p:cNvSpPr/>
          <p:nvPr/>
        </p:nvSpPr>
        <p:spPr>
          <a:xfrm>
            <a:off x="6464808" y="5349240"/>
            <a:ext cx="566928" cy="566928"/>
          </a:xfrm>
          <a:prstGeom prst="ellipse">
            <a:avLst/>
          </a:prstGeom>
          <a:solidFill>
            <a:srgbClr val="BFE3D0"/>
          </a:solidFill>
          <a:ln>
            <a:noFill/>
          </a:ln>
          <a:effectLst>
            <a:outerShdw blurRad="101600" rotWithShape="0" algn="bl" dir="5400000" dist="25400">
              <a:srgbClr val="3A3A55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tmp/gan_ppt/icons/random_dark.png" id="68" name="Google Shape;68;p5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544178" y="5428610"/>
            <a:ext cx="408188" cy="408188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Google Shape;69;p5"/>
          <p:cNvSpPr txBox="1"/>
          <p:nvPr/>
        </p:nvSpPr>
        <p:spPr>
          <a:xfrm>
            <a:off x="7223760" y="5020056"/>
            <a:ext cx="4206240" cy="12252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250"/>
              <a:buFont typeface="Calibri"/>
              <a:buNone/>
            </a:pPr>
            <a:r>
              <a:rPr b="0" i="1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Explore the learned latent space through interpolation between noise vectors.</a:t>
            </a:r>
            <a:endParaRPr b="0" i="1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GAN-Based Handwritten Digit Generation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5"/>
          <p:cNvSpPr txBox="1"/>
          <p:nvPr/>
        </p:nvSpPr>
        <p:spPr>
          <a:xfrm>
            <a:off x="11274552" y="649224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C"/>
        </a:solid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6"/>
          <p:cNvSpPr txBox="1"/>
          <p:nvPr/>
        </p:nvSpPr>
        <p:spPr>
          <a:xfrm>
            <a:off x="548652" y="457200"/>
            <a:ext cx="11643300" cy="7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2600"/>
              <a:buFont typeface="Cambria"/>
              <a:buNone/>
            </a:pPr>
            <a:r>
              <a:rPr b="1" i="0" lang="en-US" sz="4500" u="none" cap="none" strike="noStrik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The GAN Idea: Two Networks, One Contest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6"/>
          <p:cNvSpPr txBox="1"/>
          <p:nvPr/>
        </p:nvSpPr>
        <p:spPr>
          <a:xfrm>
            <a:off x="566928" y="256032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150"/>
              <a:buFont typeface="Calibri"/>
              <a:buNone/>
            </a:pPr>
            <a:r>
              <a:rPr b="1" i="0" lang="en-US" sz="20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03 · BACKGROUND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6"/>
          <p:cNvSpPr/>
          <p:nvPr/>
        </p:nvSpPr>
        <p:spPr>
          <a:xfrm>
            <a:off x="4128516" y="1417320"/>
            <a:ext cx="3931920" cy="512064"/>
          </a:xfrm>
          <a:prstGeom prst="roundRect">
            <a:avLst>
              <a:gd fmla="val 14286" name="adj"/>
            </a:avLst>
          </a:prstGeom>
          <a:solidFill>
            <a:srgbClr val="FFFFFF"/>
          </a:solidFill>
          <a:ln>
            <a:noFill/>
          </a:ln>
          <a:effectLst>
            <a:outerShdw blurRad="76200" rotWithShape="0" algn="bl" dir="5400000" dist="25400">
              <a:srgbClr val="3A3A55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" name="Google Shape;80;p6"/>
          <p:cNvSpPr txBox="1"/>
          <p:nvPr/>
        </p:nvSpPr>
        <p:spPr>
          <a:xfrm>
            <a:off x="4128516" y="1417320"/>
            <a:ext cx="393192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300"/>
              <a:buFont typeface="Calibri"/>
              <a:buNone/>
            </a:pPr>
            <a:r>
              <a:rPr b="0" i="0" lang="en-US" sz="18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Random Noise</a:t>
            </a:r>
            <a:r>
              <a:rPr lang="en-US" sz="1800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-US" sz="18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z ~ N(0, I) </a:t>
            </a:r>
            <a:r>
              <a:rPr lang="en-US" sz="1800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(</a:t>
            </a:r>
            <a:r>
              <a:rPr b="0" i="0" lang="en-US" sz="18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64 dimensions)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6"/>
          <p:cNvSpPr/>
          <p:nvPr/>
        </p:nvSpPr>
        <p:spPr>
          <a:xfrm>
            <a:off x="5975604" y="1993392"/>
            <a:ext cx="237744" cy="219456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6E6E8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6"/>
          <p:cNvSpPr/>
          <p:nvPr/>
        </p:nvSpPr>
        <p:spPr>
          <a:xfrm>
            <a:off x="4128516" y="2258568"/>
            <a:ext cx="3931920" cy="512064"/>
          </a:xfrm>
          <a:prstGeom prst="roundRect">
            <a:avLst>
              <a:gd fmla="val 14286" name="adj"/>
            </a:avLst>
          </a:prstGeom>
          <a:solidFill>
            <a:srgbClr val="5D6FB0"/>
          </a:solidFill>
          <a:ln>
            <a:noFill/>
          </a:ln>
          <a:effectLst>
            <a:outerShdw blurRad="76200" rotWithShape="0" algn="bl" dir="5400000" dist="25400">
              <a:srgbClr val="3A3A55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" name="Google Shape;83;p6"/>
          <p:cNvSpPr txBox="1"/>
          <p:nvPr/>
        </p:nvSpPr>
        <p:spPr>
          <a:xfrm>
            <a:off x="4128516" y="2258568"/>
            <a:ext cx="393192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Generator  G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6"/>
          <p:cNvSpPr/>
          <p:nvPr/>
        </p:nvSpPr>
        <p:spPr>
          <a:xfrm>
            <a:off x="5975604" y="2834640"/>
            <a:ext cx="237744" cy="219456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6E6E8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" name="Google Shape;85;p6"/>
          <p:cNvSpPr/>
          <p:nvPr/>
        </p:nvSpPr>
        <p:spPr>
          <a:xfrm>
            <a:off x="4128516" y="3099816"/>
            <a:ext cx="3931920" cy="512064"/>
          </a:xfrm>
          <a:prstGeom prst="roundRect">
            <a:avLst>
              <a:gd fmla="val 14286" name="adj"/>
            </a:avLst>
          </a:prstGeom>
          <a:solidFill>
            <a:srgbClr val="FFFFFF"/>
          </a:solidFill>
          <a:ln>
            <a:noFill/>
          </a:ln>
          <a:effectLst>
            <a:outerShdw blurRad="76200" rotWithShape="0" algn="bl" dir="5400000" dist="25400">
              <a:srgbClr val="3A3A55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6"/>
          <p:cNvSpPr txBox="1"/>
          <p:nvPr/>
        </p:nvSpPr>
        <p:spPr>
          <a:xfrm>
            <a:off x="4128516" y="3099816"/>
            <a:ext cx="393192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300"/>
              <a:buFont typeface="Calibri"/>
              <a:buNone/>
            </a:pPr>
            <a:r>
              <a:rPr b="0" i="0" lang="en-US" sz="18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Synthetic Image</a:t>
            </a:r>
            <a:r>
              <a:rPr lang="en-US" sz="1800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b="0" i="0" lang="en-US" sz="18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G(z)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6"/>
          <p:cNvSpPr/>
          <p:nvPr/>
        </p:nvSpPr>
        <p:spPr>
          <a:xfrm>
            <a:off x="5975604" y="3675888"/>
            <a:ext cx="237744" cy="219456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6E6E8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6"/>
          <p:cNvSpPr/>
          <p:nvPr/>
        </p:nvSpPr>
        <p:spPr>
          <a:xfrm>
            <a:off x="4128516" y="3941064"/>
            <a:ext cx="3931920" cy="512064"/>
          </a:xfrm>
          <a:prstGeom prst="roundRect">
            <a:avLst>
              <a:gd fmla="val 14286" name="adj"/>
            </a:avLst>
          </a:prstGeom>
          <a:solidFill>
            <a:srgbClr val="D98A80"/>
          </a:solidFill>
          <a:ln>
            <a:noFill/>
          </a:ln>
          <a:effectLst>
            <a:outerShdw blurRad="76200" rotWithShape="0" algn="bl" dir="5400000" dist="25400">
              <a:srgbClr val="3A3A55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6"/>
          <p:cNvSpPr txBox="1"/>
          <p:nvPr/>
        </p:nvSpPr>
        <p:spPr>
          <a:xfrm>
            <a:off x="4128516" y="3941064"/>
            <a:ext cx="393192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Discriminator  D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6"/>
          <p:cNvSpPr/>
          <p:nvPr/>
        </p:nvSpPr>
        <p:spPr>
          <a:xfrm>
            <a:off x="5975604" y="4517136"/>
            <a:ext cx="237744" cy="219456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6E6E8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6"/>
          <p:cNvSpPr/>
          <p:nvPr/>
        </p:nvSpPr>
        <p:spPr>
          <a:xfrm>
            <a:off x="4128516" y="4782312"/>
            <a:ext cx="3931920" cy="512064"/>
          </a:xfrm>
          <a:prstGeom prst="roundRect">
            <a:avLst>
              <a:gd fmla="val 14286" name="adj"/>
            </a:avLst>
          </a:prstGeom>
          <a:solidFill>
            <a:srgbClr val="BFE3D0"/>
          </a:solidFill>
          <a:ln>
            <a:noFill/>
          </a:ln>
          <a:effectLst>
            <a:outerShdw blurRad="76200" rotWithShape="0" algn="bl" dir="5400000" dist="25400">
              <a:srgbClr val="3A3A55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6"/>
          <p:cNvSpPr txBox="1"/>
          <p:nvPr/>
        </p:nvSpPr>
        <p:spPr>
          <a:xfrm>
            <a:off x="4128516" y="4782312"/>
            <a:ext cx="393192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300"/>
              <a:buFont typeface="Calibri"/>
              <a:buNone/>
            </a:pPr>
            <a:r>
              <a:rPr b="1" i="0" lang="en-US" sz="18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Real</a:t>
            </a:r>
            <a:r>
              <a:rPr b="1" lang="en-US" sz="1800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en-US" sz="18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or</a:t>
            </a:r>
            <a:r>
              <a:rPr b="1" lang="en-US" sz="1800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en-US" sz="18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Fake? →</a:t>
            </a:r>
            <a:r>
              <a:rPr b="1" lang="en-US" sz="1800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P</a:t>
            </a:r>
            <a:r>
              <a:rPr b="1" i="0" lang="en-US" sz="18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robability score</a:t>
            </a:r>
            <a:r>
              <a:rPr b="1" lang="en-US" sz="1800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en-US" sz="18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(0, 1)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6"/>
          <p:cNvSpPr/>
          <p:nvPr/>
        </p:nvSpPr>
        <p:spPr>
          <a:xfrm>
            <a:off x="8471916" y="3941064"/>
            <a:ext cx="2331720" cy="512064"/>
          </a:xfrm>
          <a:prstGeom prst="roundRect">
            <a:avLst>
              <a:gd fmla="val 14286" name="adj"/>
            </a:avLst>
          </a:prstGeom>
          <a:solidFill>
            <a:srgbClr val="FFFFFF"/>
          </a:solidFill>
          <a:ln>
            <a:noFill/>
          </a:ln>
          <a:effectLst>
            <a:outerShdw blurRad="76200" rotWithShape="0" algn="bl" dir="5400000" dist="25400">
              <a:srgbClr val="3A3A55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6"/>
          <p:cNvSpPr txBox="1"/>
          <p:nvPr/>
        </p:nvSpPr>
        <p:spPr>
          <a:xfrm>
            <a:off x="8471916" y="3941064"/>
            <a:ext cx="233172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200"/>
              <a:buFont typeface="Calibri"/>
              <a:buNone/>
            </a:pPr>
            <a:r>
              <a:rPr b="0" i="0" lang="en-US" sz="15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Real MNIST Image</a:t>
            </a:r>
            <a:r>
              <a:rPr lang="en-US" sz="1500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b="0" i="0" lang="en-US" sz="15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x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6"/>
          <p:cNvSpPr/>
          <p:nvPr/>
        </p:nvSpPr>
        <p:spPr>
          <a:xfrm rot="5400000">
            <a:off x="8087868" y="4087368"/>
            <a:ext cx="237744" cy="219456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6E6E8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6"/>
          <p:cNvSpPr txBox="1"/>
          <p:nvPr/>
        </p:nvSpPr>
        <p:spPr>
          <a:xfrm>
            <a:off x="822960" y="5641848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400"/>
              <a:buFont typeface="Cambria"/>
              <a:buNone/>
            </a:pPr>
            <a:r>
              <a:rPr b="0" i="1" lang="en-US" sz="2000" u="none" cap="none" strike="noStrik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Training objective:   min G max D   E[ log D(x) ]  +  E[ log(1 − D(G(z))) ]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6"/>
          <p:cNvSpPr txBox="1"/>
          <p:nvPr/>
        </p:nvSpPr>
        <p:spPr>
          <a:xfrm>
            <a:off x="50" y="6007600"/>
            <a:ext cx="121920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200"/>
              <a:buFont typeface="Calibri"/>
              <a:buNone/>
            </a:pPr>
            <a:r>
              <a:rPr b="0" i="0" lang="en-US" sz="15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At Nash equilibrium, the Generator matches the real data distribution and D(x) approaches 0.5 for every input, so it can no longer tell real from generated.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GAN-Based Handwritten Digit Generation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6"/>
          <p:cNvSpPr txBox="1"/>
          <p:nvPr/>
        </p:nvSpPr>
        <p:spPr>
          <a:xfrm>
            <a:off x="11274552" y="649224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C"/>
        </a:solidFill>
      </p:bgPr>
    </p:bg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7"/>
          <p:cNvSpPr txBox="1"/>
          <p:nvPr/>
        </p:nvSpPr>
        <p:spPr>
          <a:xfrm>
            <a:off x="548640" y="457200"/>
            <a:ext cx="96926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3000"/>
              <a:buFont typeface="Cambria"/>
              <a:buNone/>
            </a:pPr>
            <a:r>
              <a:rPr b="1" i="0" lang="en-US" sz="4500" u="none" cap="none" strike="noStrik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Dataset: MNIST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7"/>
          <p:cNvSpPr txBox="1"/>
          <p:nvPr/>
        </p:nvSpPr>
        <p:spPr>
          <a:xfrm>
            <a:off x="566928" y="256032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150"/>
              <a:buFont typeface="Calibri"/>
              <a:buNone/>
            </a:pPr>
            <a:r>
              <a:rPr b="1" i="0" lang="en-US" sz="20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04 · DATA</a:t>
            </a:r>
            <a:r>
              <a:rPr b="1" lang="en-US" sz="2000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 DESCRIPTION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07" name="Google Shape;107;p7"/>
          <p:cNvGraphicFramePr/>
          <p:nvPr/>
        </p:nvGraphicFramePr>
        <p:xfrm>
          <a:off x="548640" y="16917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{B97020A8-79D1-4FB3-AEF3-38DB3644C332}</a:tableStyleId>
              </a:tblPr>
              <a:tblGrid>
                <a:gridCol w="1991475"/>
                <a:gridCol w="3888100"/>
              </a:tblGrid>
              <a:tr h="6140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20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Property</a:t>
                      </a:r>
                      <a:endParaRPr sz="2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76200" marB="76200" marR="127000" marL="127000" anchor="ctr">
                    <a:lnL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5D6FB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20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Value</a:t>
                      </a:r>
                      <a:endParaRPr sz="2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76200" marB="76200" marR="127000" marL="127000" anchor="ctr">
                    <a:lnL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5D6FB0"/>
                    </a:solidFill>
                  </a:tcPr>
                </a:tc>
              </a:tr>
              <a:tr h="6140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E2E3A"/>
                        </a:buClr>
                        <a:buSzPts val="1300"/>
                        <a:buFont typeface="Calibri"/>
                        <a:buNone/>
                      </a:pPr>
                      <a:r>
                        <a:rPr b="1" i="1" lang="en-US" sz="2000" u="none" cap="none" strike="noStrike">
                          <a:solidFill>
                            <a:srgbClr val="2E2E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Name</a:t>
                      </a:r>
                      <a:endParaRPr b="1" i="1" sz="2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76200" marB="76200" marR="127000" marL="127000" anchor="ctr">
                    <a:lnL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E2E3A"/>
                        </a:buClr>
                        <a:buSzPts val="1300"/>
                        <a:buFont typeface="Calibri"/>
                        <a:buNone/>
                      </a:pPr>
                      <a:r>
                        <a:rPr i="1" lang="en-US" sz="2000" u="none" cap="none" strike="noStrike">
                          <a:solidFill>
                            <a:srgbClr val="2E2E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MNIST</a:t>
                      </a:r>
                      <a:endParaRPr i="1" sz="2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76200" marB="76200" marR="127000" marL="127000" anchor="ctr">
                    <a:lnL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825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E2E3A"/>
                        </a:buClr>
                        <a:buSzPts val="1300"/>
                        <a:buFont typeface="Calibri"/>
                        <a:buNone/>
                      </a:pPr>
                      <a:r>
                        <a:rPr b="1" i="1" lang="en-US" sz="2000" u="none" cap="none" strike="noStrike">
                          <a:solidFill>
                            <a:srgbClr val="2E2E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Source</a:t>
                      </a:r>
                      <a:endParaRPr b="1" i="1" sz="2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76200" marB="76200" marR="127000" marL="127000" anchor="ctr">
                    <a:lnL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E2E3A"/>
                        </a:buClr>
                        <a:buSzPts val="1300"/>
                        <a:buFont typeface="Calibri"/>
                        <a:buNone/>
                      </a:pPr>
                      <a:r>
                        <a:rPr i="1" lang="en-US" sz="2000" u="none" cap="none" strike="noStrike">
                          <a:solidFill>
                            <a:srgbClr val="2E2E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torchvision.datasets.MNIST (auto-download)</a:t>
                      </a:r>
                      <a:endParaRPr i="1" sz="2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76200" marB="76200" marR="127000" marL="127000" anchor="ctr">
                    <a:lnL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1F2FA"/>
                    </a:solidFill>
                  </a:tcPr>
                </a:tc>
              </a:tr>
              <a:tr h="6140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E2E3A"/>
                        </a:buClr>
                        <a:buSzPts val="1300"/>
                        <a:buFont typeface="Calibri"/>
                        <a:buNone/>
                      </a:pPr>
                      <a:r>
                        <a:rPr b="1" i="1" lang="en-US" sz="2000" u="none" cap="none" strike="noStrike">
                          <a:solidFill>
                            <a:srgbClr val="2E2E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Channels</a:t>
                      </a:r>
                      <a:endParaRPr b="1" i="1" sz="2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76200" marB="76200" marR="127000" marL="127000" anchor="ctr">
                    <a:lnL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E2E3A"/>
                        </a:buClr>
                        <a:buSzPts val="1300"/>
                        <a:buFont typeface="Calibri"/>
                        <a:buNone/>
                      </a:pPr>
                      <a:r>
                        <a:rPr i="1" lang="en-US" sz="2000" u="none" cap="none" strike="noStrike">
                          <a:solidFill>
                            <a:srgbClr val="2E2E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 (greyscale)</a:t>
                      </a:r>
                      <a:endParaRPr i="1" sz="2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76200" marB="76200" marR="127000" marL="127000" anchor="ctr">
                    <a:lnL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825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E2E3A"/>
                        </a:buClr>
                        <a:buSzPts val="1300"/>
                        <a:buFont typeface="Calibri"/>
                        <a:buNone/>
                      </a:pPr>
                      <a:r>
                        <a:rPr b="1" i="1" lang="en-US" sz="2000" u="none" cap="none" strike="noStrike">
                          <a:solidFill>
                            <a:srgbClr val="2E2E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Pixel normalisation</a:t>
                      </a:r>
                      <a:endParaRPr b="1" i="1" sz="2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76200" marB="76200" marR="127000" marL="127000" anchor="ctr">
                    <a:lnL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E2E3A"/>
                        </a:buClr>
                        <a:buSzPts val="1300"/>
                        <a:buFont typeface="Calibri"/>
                        <a:buNone/>
                      </a:pPr>
                      <a:r>
                        <a:rPr i="1" lang="en-US" sz="2000" u="none" cap="none" strike="noStrike">
                          <a:solidFill>
                            <a:srgbClr val="2E2E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[0, 1]  →  [-1, 1]</a:t>
                      </a:r>
                      <a:endParaRPr i="1" sz="2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76200" marB="76200" marR="127000" marL="127000" anchor="ctr">
                    <a:lnL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1F2FA"/>
                    </a:solidFill>
                  </a:tcPr>
                </a:tc>
              </a:tr>
            </a:tbl>
          </a:graphicData>
        </a:graphic>
      </p:graphicFrame>
      <p:sp>
        <p:nvSpPr>
          <p:cNvPr id="108" name="Google Shape;108;p7"/>
          <p:cNvSpPr/>
          <p:nvPr/>
        </p:nvSpPr>
        <p:spPr>
          <a:xfrm>
            <a:off x="6720840" y="1691640"/>
            <a:ext cx="2331720" cy="1600200"/>
          </a:xfrm>
          <a:prstGeom prst="roundRect">
            <a:avLst>
              <a:gd fmla="val 5143" name="adj"/>
            </a:avLst>
          </a:prstGeom>
          <a:solidFill>
            <a:srgbClr val="FFFFFF"/>
          </a:solidFill>
          <a:ln>
            <a:noFill/>
          </a:ln>
          <a:effectLst>
            <a:outerShdw blurRad="101600" rotWithShape="0" algn="bl" dir="5400000" dist="25400">
              <a:srgbClr val="3A3A55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" name="Google Shape;109;p7"/>
          <p:cNvSpPr/>
          <p:nvPr/>
        </p:nvSpPr>
        <p:spPr>
          <a:xfrm>
            <a:off x="6922008" y="1892808"/>
            <a:ext cx="457200" cy="109728"/>
          </a:xfrm>
          <a:prstGeom prst="roundRect">
            <a:avLst>
              <a:gd fmla="val 50000" name="adj"/>
            </a:avLst>
          </a:prstGeom>
          <a:solidFill>
            <a:srgbClr val="A8B8E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7"/>
          <p:cNvSpPr txBox="1"/>
          <p:nvPr/>
        </p:nvSpPr>
        <p:spPr>
          <a:xfrm>
            <a:off x="6903720" y="2075688"/>
            <a:ext cx="196596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60,000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7"/>
          <p:cNvSpPr txBox="1"/>
          <p:nvPr/>
        </p:nvSpPr>
        <p:spPr>
          <a:xfrm>
            <a:off x="6903720" y="2834640"/>
            <a:ext cx="19659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200"/>
              <a:buFont typeface="Calibri"/>
              <a:buNone/>
            </a:pPr>
            <a:r>
              <a:rPr b="0" i="0" lang="en-US" sz="15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Training images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7"/>
          <p:cNvSpPr/>
          <p:nvPr/>
        </p:nvSpPr>
        <p:spPr>
          <a:xfrm>
            <a:off x="9345168" y="1691640"/>
            <a:ext cx="2331720" cy="1600200"/>
          </a:xfrm>
          <a:prstGeom prst="roundRect">
            <a:avLst>
              <a:gd fmla="val 5143" name="adj"/>
            </a:avLst>
          </a:prstGeom>
          <a:solidFill>
            <a:srgbClr val="FFFFFF"/>
          </a:solidFill>
          <a:ln>
            <a:noFill/>
          </a:ln>
          <a:effectLst>
            <a:outerShdw blurRad="101600" rotWithShape="0" algn="bl" dir="5400000" dist="25400">
              <a:srgbClr val="3A3A55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7"/>
          <p:cNvSpPr/>
          <p:nvPr/>
        </p:nvSpPr>
        <p:spPr>
          <a:xfrm>
            <a:off x="9546336" y="1892808"/>
            <a:ext cx="457200" cy="109728"/>
          </a:xfrm>
          <a:prstGeom prst="roundRect">
            <a:avLst>
              <a:gd fmla="val 50000" name="adj"/>
            </a:avLst>
          </a:prstGeom>
          <a:solidFill>
            <a:srgbClr val="F6C6C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" name="Google Shape;114;p7"/>
          <p:cNvSpPr txBox="1"/>
          <p:nvPr/>
        </p:nvSpPr>
        <p:spPr>
          <a:xfrm>
            <a:off x="9528048" y="2075688"/>
            <a:ext cx="196596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10,000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7"/>
          <p:cNvSpPr txBox="1"/>
          <p:nvPr/>
        </p:nvSpPr>
        <p:spPr>
          <a:xfrm>
            <a:off x="9528048" y="2834640"/>
            <a:ext cx="19659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200"/>
              <a:buFont typeface="Calibri"/>
              <a:buNone/>
            </a:pPr>
            <a:r>
              <a:rPr b="0" i="0" lang="en-US" sz="15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Test images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7"/>
          <p:cNvSpPr/>
          <p:nvPr/>
        </p:nvSpPr>
        <p:spPr>
          <a:xfrm>
            <a:off x="6720840" y="3584448"/>
            <a:ext cx="2331720" cy="1600200"/>
          </a:xfrm>
          <a:prstGeom prst="roundRect">
            <a:avLst>
              <a:gd fmla="val 5143" name="adj"/>
            </a:avLst>
          </a:prstGeom>
          <a:solidFill>
            <a:srgbClr val="FFFFFF"/>
          </a:solidFill>
          <a:ln>
            <a:noFill/>
          </a:ln>
          <a:effectLst>
            <a:outerShdw blurRad="101600" rotWithShape="0" algn="bl" dir="5400000" dist="25400">
              <a:srgbClr val="3A3A55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7"/>
          <p:cNvSpPr/>
          <p:nvPr/>
        </p:nvSpPr>
        <p:spPr>
          <a:xfrm>
            <a:off x="6922008" y="3785616"/>
            <a:ext cx="457200" cy="109728"/>
          </a:xfrm>
          <a:prstGeom prst="roundRect">
            <a:avLst>
              <a:gd fmla="val 50000" name="adj"/>
            </a:avLst>
          </a:prstGeom>
          <a:solidFill>
            <a:srgbClr val="BFE3D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7"/>
          <p:cNvSpPr txBox="1"/>
          <p:nvPr/>
        </p:nvSpPr>
        <p:spPr>
          <a:xfrm>
            <a:off x="6903720" y="3968496"/>
            <a:ext cx="196596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28 × 28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7"/>
          <p:cNvSpPr txBox="1"/>
          <p:nvPr/>
        </p:nvSpPr>
        <p:spPr>
          <a:xfrm>
            <a:off x="6903720" y="4727448"/>
            <a:ext cx="19659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200"/>
              <a:buFont typeface="Calibri"/>
              <a:buNone/>
            </a:pPr>
            <a:r>
              <a:rPr b="0" i="0" lang="en-US" sz="15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Pixel resolution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7"/>
          <p:cNvSpPr/>
          <p:nvPr/>
        </p:nvSpPr>
        <p:spPr>
          <a:xfrm>
            <a:off x="9345168" y="3584448"/>
            <a:ext cx="2331720" cy="1600200"/>
          </a:xfrm>
          <a:prstGeom prst="roundRect">
            <a:avLst>
              <a:gd fmla="val 5143" name="adj"/>
            </a:avLst>
          </a:prstGeom>
          <a:solidFill>
            <a:srgbClr val="FFFFFF"/>
          </a:solidFill>
          <a:ln>
            <a:noFill/>
          </a:ln>
          <a:effectLst>
            <a:outerShdw blurRad="101600" rotWithShape="0" algn="bl" dir="5400000" dist="25400">
              <a:srgbClr val="3A3A55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7"/>
          <p:cNvSpPr/>
          <p:nvPr/>
        </p:nvSpPr>
        <p:spPr>
          <a:xfrm>
            <a:off x="9546336" y="3785616"/>
            <a:ext cx="457200" cy="109728"/>
          </a:xfrm>
          <a:prstGeom prst="roundRect">
            <a:avLst>
              <a:gd fmla="val 50000" name="adj"/>
            </a:avLst>
          </a:prstGeom>
          <a:solidFill>
            <a:srgbClr val="A8B8E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p7"/>
          <p:cNvSpPr txBox="1"/>
          <p:nvPr/>
        </p:nvSpPr>
        <p:spPr>
          <a:xfrm>
            <a:off x="9528048" y="3968496"/>
            <a:ext cx="196596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10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7"/>
          <p:cNvSpPr txBox="1"/>
          <p:nvPr/>
        </p:nvSpPr>
        <p:spPr>
          <a:xfrm>
            <a:off x="9528048" y="4727448"/>
            <a:ext cx="19659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200"/>
              <a:buFont typeface="Calibri"/>
              <a:buNone/>
            </a:pPr>
            <a:r>
              <a:rPr b="0" i="0" lang="en-US" sz="15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Digit classes (0–9)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7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 GAN-Based Handwritten Digit Generation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7"/>
          <p:cNvSpPr txBox="1"/>
          <p:nvPr/>
        </p:nvSpPr>
        <p:spPr>
          <a:xfrm>
            <a:off x="11274552" y="649224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C"/>
        </a:solid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8"/>
          <p:cNvSpPr txBox="1"/>
          <p:nvPr/>
        </p:nvSpPr>
        <p:spPr>
          <a:xfrm>
            <a:off x="548640" y="457200"/>
            <a:ext cx="96926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3000"/>
              <a:buFont typeface="Cambria"/>
              <a:buNone/>
            </a:pPr>
            <a:r>
              <a:rPr b="1" i="0" lang="en-US" sz="4500" u="none" cap="none" strike="noStrik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Preprocessing Pipeline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8"/>
          <p:cNvSpPr txBox="1"/>
          <p:nvPr/>
        </p:nvSpPr>
        <p:spPr>
          <a:xfrm>
            <a:off x="566928" y="256032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150"/>
              <a:buFont typeface="Calibri"/>
              <a:buNone/>
            </a:pPr>
            <a:r>
              <a:rPr b="1" i="0" lang="en-US" sz="20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04 · DATA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8"/>
          <p:cNvSpPr/>
          <p:nvPr/>
        </p:nvSpPr>
        <p:spPr>
          <a:xfrm>
            <a:off x="548640" y="1965960"/>
            <a:ext cx="2487168" cy="3017520"/>
          </a:xfrm>
          <a:prstGeom prst="roundRect">
            <a:avLst>
              <a:gd fmla="val 3309" name="adj"/>
            </a:avLst>
          </a:prstGeom>
          <a:solidFill>
            <a:srgbClr val="FFFFFF"/>
          </a:solidFill>
          <a:ln>
            <a:noFill/>
          </a:ln>
          <a:effectLst>
            <a:outerShdw blurRad="101600" rotWithShape="0" algn="bl" dir="5400000" dist="25400">
              <a:srgbClr val="3A3A55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8"/>
          <p:cNvSpPr/>
          <p:nvPr/>
        </p:nvSpPr>
        <p:spPr>
          <a:xfrm>
            <a:off x="1536192" y="2240280"/>
            <a:ext cx="512064" cy="512064"/>
          </a:xfrm>
          <a:prstGeom prst="ellipse">
            <a:avLst/>
          </a:prstGeom>
          <a:solidFill>
            <a:srgbClr val="A8B8E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8"/>
          <p:cNvSpPr txBox="1"/>
          <p:nvPr/>
        </p:nvSpPr>
        <p:spPr>
          <a:xfrm>
            <a:off x="1536192" y="2240280"/>
            <a:ext cx="512064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2000"/>
              <a:buFont typeface="Cambria"/>
              <a:buNone/>
            </a:pPr>
            <a:r>
              <a:rPr b="1" i="0" lang="en-US" sz="2000" u="none" cap="none" strike="noStrik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1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8"/>
          <p:cNvSpPr txBox="1"/>
          <p:nvPr/>
        </p:nvSpPr>
        <p:spPr>
          <a:xfrm>
            <a:off x="713232" y="2926080"/>
            <a:ext cx="2157984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450"/>
              <a:buFont typeface="Calibri"/>
              <a:buNone/>
            </a:pPr>
            <a:r>
              <a:rPr b="1" i="0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Load as Tensors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8"/>
          <p:cNvSpPr txBox="1"/>
          <p:nvPr/>
        </p:nvSpPr>
        <p:spPr>
          <a:xfrm>
            <a:off x="749808" y="3383280"/>
            <a:ext cx="2084700" cy="150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150"/>
              <a:buFont typeface="Calibri"/>
              <a:buNone/>
            </a:pPr>
            <a:r>
              <a:rPr b="0" i="0" lang="en-US" sz="15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Images loaded via </a:t>
            </a:r>
            <a:r>
              <a:rPr b="0" i="0" lang="en-US" sz="12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torchvision.transforms.ToTensor()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8"/>
          <p:cNvSpPr/>
          <p:nvPr/>
        </p:nvSpPr>
        <p:spPr>
          <a:xfrm rot="-5400000">
            <a:off x="3054096" y="3374136"/>
            <a:ext cx="182880" cy="201168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6E6E8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8"/>
          <p:cNvSpPr/>
          <p:nvPr/>
        </p:nvSpPr>
        <p:spPr>
          <a:xfrm>
            <a:off x="3255264" y="1965960"/>
            <a:ext cx="2487168" cy="3017520"/>
          </a:xfrm>
          <a:prstGeom prst="roundRect">
            <a:avLst>
              <a:gd fmla="val 3309" name="adj"/>
            </a:avLst>
          </a:prstGeom>
          <a:solidFill>
            <a:srgbClr val="FFFFFF"/>
          </a:solidFill>
          <a:ln>
            <a:noFill/>
          </a:ln>
          <a:effectLst>
            <a:outerShdw blurRad="101600" rotWithShape="0" algn="bl" dir="5400000" dist="25400">
              <a:srgbClr val="3A3A55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" name="Google Shape;140;p8"/>
          <p:cNvSpPr/>
          <p:nvPr/>
        </p:nvSpPr>
        <p:spPr>
          <a:xfrm>
            <a:off x="4242816" y="2240280"/>
            <a:ext cx="512064" cy="512064"/>
          </a:xfrm>
          <a:prstGeom prst="ellipse">
            <a:avLst/>
          </a:prstGeom>
          <a:solidFill>
            <a:srgbClr val="F6C6C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8"/>
          <p:cNvSpPr txBox="1"/>
          <p:nvPr/>
        </p:nvSpPr>
        <p:spPr>
          <a:xfrm>
            <a:off x="4242816" y="2240280"/>
            <a:ext cx="512064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2000"/>
              <a:buFont typeface="Cambria"/>
              <a:buNone/>
            </a:pPr>
            <a:r>
              <a:rPr b="1" i="0" lang="en-US" sz="2000" u="none" cap="none" strike="noStrik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2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8"/>
          <p:cNvSpPr txBox="1"/>
          <p:nvPr/>
        </p:nvSpPr>
        <p:spPr>
          <a:xfrm>
            <a:off x="3419856" y="2926080"/>
            <a:ext cx="2157984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450"/>
              <a:buFont typeface="Calibri"/>
              <a:buNone/>
            </a:pPr>
            <a:r>
              <a:rPr b="1" i="0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Normalise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8"/>
          <p:cNvSpPr txBox="1"/>
          <p:nvPr/>
        </p:nvSpPr>
        <p:spPr>
          <a:xfrm>
            <a:off x="3456432" y="3383280"/>
            <a:ext cx="2084832" cy="1508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150"/>
              <a:buFont typeface="Calibri"/>
              <a:buNone/>
            </a:pPr>
            <a:r>
              <a:rPr b="0" i="0" lang="en-US" sz="15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Pixel values rescaled from [0, 1] to [-1, 1] using Normalize([0.5],[0.5]) to match the Generator's Tanh output.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8"/>
          <p:cNvSpPr/>
          <p:nvPr/>
        </p:nvSpPr>
        <p:spPr>
          <a:xfrm rot="-5400000">
            <a:off x="5760720" y="3374136"/>
            <a:ext cx="182880" cy="201168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6E6E8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"/>
          <p:cNvSpPr/>
          <p:nvPr/>
        </p:nvSpPr>
        <p:spPr>
          <a:xfrm>
            <a:off x="5961888" y="1965960"/>
            <a:ext cx="2487168" cy="3017520"/>
          </a:xfrm>
          <a:prstGeom prst="roundRect">
            <a:avLst>
              <a:gd fmla="val 3309" name="adj"/>
            </a:avLst>
          </a:prstGeom>
          <a:solidFill>
            <a:srgbClr val="FFFFFF"/>
          </a:solidFill>
          <a:ln>
            <a:noFill/>
          </a:ln>
          <a:effectLst>
            <a:outerShdw blurRad="101600" rotWithShape="0" algn="bl" dir="5400000" dist="25400">
              <a:srgbClr val="3A3A55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"/>
          <p:cNvSpPr/>
          <p:nvPr/>
        </p:nvSpPr>
        <p:spPr>
          <a:xfrm>
            <a:off x="6949440" y="2240280"/>
            <a:ext cx="512064" cy="512064"/>
          </a:xfrm>
          <a:prstGeom prst="ellipse">
            <a:avLst/>
          </a:prstGeom>
          <a:solidFill>
            <a:srgbClr val="BFE3D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8"/>
          <p:cNvSpPr txBox="1"/>
          <p:nvPr/>
        </p:nvSpPr>
        <p:spPr>
          <a:xfrm>
            <a:off x="6949440" y="2240280"/>
            <a:ext cx="512064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2000"/>
              <a:buFont typeface="Cambria"/>
              <a:buNone/>
            </a:pPr>
            <a:r>
              <a:rPr b="1" i="0" lang="en-US" sz="2000" u="none" cap="none" strike="noStrik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3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8"/>
          <p:cNvSpPr txBox="1"/>
          <p:nvPr/>
        </p:nvSpPr>
        <p:spPr>
          <a:xfrm>
            <a:off x="6126480" y="2926080"/>
            <a:ext cx="2157984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450"/>
              <a:buFont typeface="Calibri"/>
              <a:buNone/>
            </a:pPr>
            <a:r>
              <a:rPr b="1" i="0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Batch &amp; Shuffle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8"/>
          <p:cNvSpPr txBox="1"/>
          <p:nvPr/>
        </p:nvSpPr>
        <p:spPr>
          <a:xfrm>
            <a:off x="6163056" y="3383280"/>
            <a:ext cx="2084832" cy="1508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150"/>
              <a:buFont typeface="Calibri"/>
              <a:buNone/>
            </a:pPr>
            <a:r>
              <a:rPr b="0" i="0" lang="en-US" sz="15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Batch size 128, data reshuffled every epoch for stable gradient estimates.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8"/>
          <p:cNvSpPr/>
          <p:nvPr/>
        </p:nvSpPr>
        <p:spPr>
          <a:xfrm rot="-5400000">
            <a:off x="8467344" y="3374136"/>
            <a:ext cx="182880" cy="201168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6E6E8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8"/>
          <p:cNvSpPr/>
          <p:nvPr/>
        </p:nvSpPr>
        <p:spPr>
          <a:xfrm>
            <a:off x="8668512" y="1965960"/>
            <a:ext cx="2487168" cy="3017520"/>
          </a:xfrm>
          <a:prstGeom prst="roundRect">
            <a:avLst>
              <a:gd fmla="val 3309" name="adj"/>
            </a:avLst>
          </a:prstGeom>
          <a:solidFill>
            <a:srgbClr val="FFFFFF"/>
          </a:solidFill>
          <a:ln>
            <a:noFill/>
          </a:ln>
          <a:effectLst>
            <a:outerShdw blurRad="101600" rotWithShape="0" algn="bl" dir="5400000" dist="25400">
              <a:srgbClr val="3A3A55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8"/>
          <p:cNvSpPr/>
          <p:nvPr/>
        </p:nvSpPr>
        <p:spPr>
          <a:xfrm>
            <a:off x="9656064" y="2240280"/>
            <a:ext cx="512064" cy="512064"/>
          </a:xfrm>
          <a:prstGeom prst="ellipse">
            <a:avLst/>
          </a:prstGeom>
          <a:solidFill>
            <a:srgbClr val="A8B8E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8"/>
          <p:cNvSpPr txBox="1"/>
          <p:nvPr/>
        </p:nvSpPr>
        <p:spPr>
          <a:xfrm>
            <a:off x="9656064" y="2240280"/>
            <a:ext cx="512064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2000"/>
              <a:buFont typeface="Cambria"/>
              <a:buNone/>
            </a:pPr>
            <a:r>
              <a:rPr b="1" i="0" lang="en-US" sz="2000" u="none" cap="none" strike="noStrik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4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8"/>
          <p:cNvSpPr txBox="1"/>
          <p:nvPr/>
        </p:nvSpPr>
        <p:spPr>
          <a:xfrm>
            <a:off x="8833104" y="2926080"/>
            <a:ext cx="2157984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450"/>
              <a:buFont typeface="Calibri"/>
              <a:buNone/>
            </a:pPr>
            <a:r>
              <a:rPr b="1" i="0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No Augmentation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8"/>
          <p:cNvSpPr txBox="1"/>
          <p:nvPr/>
        </p:nvSpPr>
        <p:spPr>
          <a:xfrm>
            <a:off x="8869680" y="3383280"/>
            <a:ext cx="2084832" cy="1508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150"/>
              <a:buFont typeface="Calibri"/>
              <a:buNone/>
            </a:pPr>
            <a:r>
              <a:rPr b="0" i="0" lang="en-US" sz="15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MNIST is already large and class-balanced, so no augmentation was applied.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GAN-Based Handwritten Digit Generation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8"/>
          <p:cNvSpPr txBox="1"/>
          <p:nvPr/>
        </p:nvSpPr>
        <p:spPr>
          <a:xfrm>
            <a:off x="11274552" y="649224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C"/>
        </a:solidFill>
      </p:bgPr>
    </p:bg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9"/>
          <p:cNvSpPr txBox="1"/>
          <p:nvPr/>
        </p:nvSpPr>
        <p:spPr>
          <a:xfrm>
            <a:off x="548651" y="457200"/>
            <a:ext cx="11091600" cy="7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2600"/>
              <a:buFont typeface="Cambria"/>
              <a:buNone/>
            </a:pPr>
            <a:r>
              <a:rPr b="1" i="0" lang="en-US" sz="4500" u="none" cap="none" strike="noStrik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Methodology: Why a Fully-Connected GAN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9"/>
          <p:cNvSpPr txBox="1"/>
          <p:nvPr/>
        </p:nvSpPr>
        <p:spPr>
          <a:xfrm>
            <a:off x="566928" y="256032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150"/>
              <a:buFont typeface="Calibri"/>
              <a:buNone/>
            </a:pPr>
            <a:r>
              <a:rPr b="1" i="0" lang="en-US" sz="20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05 · METHODOLOGY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9"/>
          <p:cNvSpPr/>
          <p:nvPr/>
        </p:nvSpPr>
        <p:spPr>
          <a:xfrm>
            <a:off x="548640" y="1691640"/>
            <a:ext cx="5120640" cy="4297680"/>
          </a:xfrm>
          <a:prstGeom prst="roundRect">
            <a:avLst>
              <a:gd fmla="val 2128" name="adj"/>
            </a:avLst>
          </a:prstGeom>
          <a:solidFill>
            <a:srgbClr val="FFFFFF"/>
          </a:solidFill>
          <a:ln>
            <a:noFill/>
          </a:ln>
          <a:effectLst>
            <a:outerShdw blurRad="101600" rotWithShape="0" algn="bl" dir="5400000" dist="25400">
              <a:srgbClr val="3A3A55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9"/>
          <p:cNvSpPr txBox="1"/>
          <p:nvPr/>
        </p:nvSpPr>
        <p:spPr>
          <a:xfrm>
            <a:off x="822967" y="1783085"/>
            <a:ext cx="45720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250"/>
              <a:buFont typeface="Calibri"/>
              <a:buNone/>
            </a:pPr>
            <a:r>
              <a:rPr b="1" i="0" lang="en-US" sz="15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Architecture choice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9"/>
          <p:cNvSpPr txBox="1"/>
          <p:nvPr/>
        </p:nvSpPr>
        <p:spPr>
          <a:xfrm>
            <a:off x="868675" y="2331725"/>
            <a:ext cx="4755000" cy="352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355600" lvl="0" marL="45720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2000"/>
              <a:buFont typeface="Calibri"/>
              <a:buChar char="●"/>
            </a:pPr>
            <a:r>
              <a:rPr b="0" i="1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This implementation uses a fully-connected (MLP) GAN: </a:t>
            </a:r>
            <a:r>
              <a:rPr i="1" lang="en-US" sz="2000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B</a:t>
            </a:r>
            <a:r>
              <a:rPr b="0" i="1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oth the Generator and Discriminator are stacked Linear layers with Leaky ReLU activations, rather than convolutional layers.</a:t>
            </a:r>
            <a:endParaRPr b="0" i="1" sz="2000" u="none" cap="none" strike="noStrike">
              <a:solidFill>
                <a:srgbClr val="2E2E3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2000">
              <a:solidFill>
                <a:srgbClr val="2E2E3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2000"/>
              <a:buFont typeface="Calibri"/>
              <a:buChar char="●"/>
            </a:pPr>
            <a:r>
              <a:rPr b="0" i="1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This keeps the model straightforward to implement, train and reason about, while still performing well on small 28 × 28 greyscale images such as MNIST digits.</a:t>
            </a:r>
            <a:endParaRPr b="0" i="1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9"/>
          <p:cNvSpPr/>
          <p:nvPr/>
        </p:nvSpPr>
        <p:spPr>
          <a:xfrm>
            <a:off x="5989320" y="1691640"/>
            <a:ext cx="5650992" cy="1037844"/>
          </a:xfrm>
          <a:prstGeom prst="roundRect">
            <a:avLst>
              <a:gd fmla="val 7048" name="adj"/>
            </a:avLst>
          </a:prstGeom>
          <a:solidFill>
            <a:srgbClr val="FFFFFF"/>
          </a:solidFill>
          <a:ln>
            <a:noFill/>
          </a:ln>
          <a:effectLst>
            <a:outerShdw blurRad="76200" rotWithShape="0" algn="bl" dir="5400000" dist="25400">
              <a:srgbClr val="3A3A55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1500"/>
          </a:p>
        </p:txBody>
      </p:sp>
      <p:sp>
        <p:nvSpPr>
          <p:cNvPr id="169" name="Google Shape;169;p9"/>
          <p:cNvSpPr/>
          <p:nvPr/>
        </p:nvSpPr>
        <p:spPr>
          <a:xfrm>
            <a:off x="6172200" y="2009394"/>
            <a:ext cx="402336" cy="402336"/>
          </a:xfrm>
          <a:prstGeom prst="ellipse">
            <a:avLst/>
          </a:prstGeom>
          <a:solidFill>
            <a:srgbClr val="A8B8E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1500"/>
          </a:p>
        </p:txBody>
      </p:sp>
      <p:sp>
        <p:nvSpPr>
          <p:cNvPr id="170" name="Google Shape;170;p9"/>
          <p:cNvSpPr txBox="1"/>
          <p:nvPr/>
        </p:nvSpPr>
        <p:spPr>
          <a:xfrm>
            <a:off x="6720840" y="1783080"/>
            <a:ext cx="47548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300"/>
              <a:buFont typeface="Calibri"/>
              <a:buNone/>
            </a:pPr>
            <a:r>
              <a:rPr b="1" i="1" lang="en-US" sz="15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LeakyReLU (slope 0.2)</a:t>
            </a:r>
            <a:endParaRPr b="0" i="1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9"/>
          <p:cNvSpPr txBox="1"/>
          <p:nvPr/>
        </p:nvSpPr>
        <p:spPr>
          <a:xfrm>
            <a:off x="6720840" y="2093976"/>
            <a:ext cx="4754880" cy="5349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150"/>
              <a:buFont typeface="Calibri"/>
              <a:buNone/>
            </a:pPr>
            <a:r>
              <a:rPr b="0" i="1" lang="en-US" sz="15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Used in every hidden layer of both networks. Avoids the dead neurons that plain ReLU can cause when inputs go negative.</a:t>
            </a:r>
            <a:endParaRPr b="0" i="1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9"/>
          <p:cNvSpPr/>
          <p:nvPr/>
        </p:nvSpPr>
        <p:spPr>
          <a:xfrm>
            <a:off x="5989320" y="2802636"/>
            <a:ext cx="5650992" cy="1037844"/>
          </a:xfrm>
          <a:prstGeom prst="roundRect">
            <a:avLst>
              <a:gd fmla="val 7048" name="adj"/>
            </a:avLst>
          </a:prstGeom>
          <a:solidFill>
            <a:srgbClr val="FFFFFF"/>
          </a:solidFill>
          <a:ln>
            <a:noFill/>
          </a:ln>
          <a:effectLst>
            <a:outerShdw blurRad="76200" rotWithShape="0" algn="bl" dir="5400000" dist="25400">
              <a:srgbClr val="3A3A55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1500"/>
          </a:p>
        </p:txBody>
      </p:sp>
      <p:sp>
        <p:nvSpPr>
          <p:cNvPr id="173" name="Google Shape;173;p9"/>
          <p:cNvSpPr/>
          <p:nvPr/>
        </p:nvSpPr>
        <p:spPr>
          <a:xfrm>
            <a:off x="6172200" y="3120390"/>
            <a:ext cx="402336" cy="402336"/>
          </a:xfrm>
          <a:prstGeom prst="ellipse">
            <a:avLst/>
          </a:prstGeom>
          <a:solidFill>
            <a:srgbClr val="F6C6C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1500"/>
          </a:p>
        </p:txBody>
      </p:sp>
      <p:sp>
        <p:nvSpPr>
          <p:cNvPr id="174" name="Google Shape;174;p9"/>
          <p:cNvSpPr txBox="1"/>
          <p:nvPr/>
        </p:nvSpPr>
        <p:spPr>
          <a:xfrm>
            <a:off x="6720840" y="2894076"/>
            <a:ext cx="47548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300"/>
              <a:buFont typeface="Calibri"/>
              <a:buNone/>
            </a:pPr>
            <a:r>
              <a:rPr b="1" i="1" lang="en-US" sz="15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Tanh at Generator output</a:t>
            </a:r>
            <a:endParaRPr b="0" i="1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9"/>
          <p:cNvSpPr txBox="1"/>
          <p:nvPr/>
        </p:nvSpPr>
        <p:spPr>
          <a:xfrm>
            <a:off x="6720840" y="3204972"/>
            <a:ext cx="4754880" cy="5349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150"/>
              <a:buFont typeface="Calibri"/>
              <a:buNone/>
            </a:pPr>
            <a:r>
              <a:rPr b="0" i="1" lang="en-US" sz="15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Squashes pixel values to [-1, 1], matching the normalised input images.</a:t>
            </a:r>
            <a:endParaRPr b="0" i="1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9"/>
          <p:cNvSpPr/>
          <p:nvPr/>
        </p:nvSpPr>
        <p:spPr>
          <a:xfrm>
            <a:off x="5989320" y="3913632"/>
            <a:ext cx="5650992" cy="1037844"/>
          </a:xfrm>
          <a:prstGeom prst="roundRect">
            <a:avLst>
              <a:gd fmla="val 7048" name="adj"/>
            </a:avLst>
          </a:prstGeom>
          <a:solidFill>
            <a:srgbClr val="FFFFFF"/>
          </a:solidFill>
          <a:ln>
            <a:noFill/>
          </a:ln>
          <a:effectLst>
            <a:outerShdw blurRad="76200" rotWithShape="0" algn="bl" dir="5400000" dist="25400">
              <a:srgbClr val="3A3A55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1500"/>
          </a:p>
        </p:txBody>
      </p:sp>
      <p:sp>
        <p:nvSpPr>
          <p:cNvPr id="177" name="Google Shape;177;p9"/>
          <p:cNvSpPr/>
          <p:nvPr/>
        </p:nvSpPr>
        <p:spPr>
          <a:xfrm>
            <a:off x="6172200" y="4231386"/>
            <a:ext cx="402336" cy="402336"/>
          </a:xfrm>
          <a:prstGeom prst="ellipse">
            <a:avLst/>
          </a:prstGeom>
          <a:solidFill>
            <a:srgbClr val="BFE3D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1500"/>
          </a:p>
        </p:txBody>
      </p:sp>
      <p:sp>
        <p:nvSpPr>
          <p:cNvPr id="178" name="Google Shape;178;p9"/>
          <p:cNvSpPr txBox="1"/>
          <p:nvPr/>
        </p:nvSpPr>
        <p:spPr>
          <a:xfrm>
            <a:off x="6720840" y="4005072"/>
            <a:ext cx="47548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300"/>
              <a:buFont typeface="Calibri"/>
              <a:buNone/>
            </a:pPr>
            <a:r>
              <a:rPr b="1" i="1" lang="en-US" sz="15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Sigmoid at Discriminator output</a:t>
            </a:r>
            <a:endParaRPr b="0" i="1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9"/>
          <p:cNvSpPr txBox="1"/>
          <p:nvPr/>
        </p:nvSpPr>
        <p:spPr>
          <a:xfrm>
            <a:off x="6720840" y="4315968"/>
            <a:ext cx="4754880" cy="5349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150"/>
              <a:buFont typeface="Calibri"/>
              <a:buNone/>
            </a:pPr>
            <a:r>
              <a:rPr b="0" i="1" lang="en-US" sz="15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Produces a clean probability in (0, 1) for the real / fake decision.</a:t>
            </a:r>
            <a:endParaRPr b="0" i="1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9"/>
          <p:cNvSpPr/>
          <p:nvPr/>
        </p:nvSpPr>
        <p:spPr>
          <a:xfrm>
            <a:off x="5989320" y="5024628"/>
            <a:ext cx="5650992" cy="1037844"/>
          </a:xfrm>
          <a:prstGeom prst="roundRect">
            <a:avLst>
              <a:gd fmla="val 7048" name="adj"/>
            </a:avLst>
          </a:prstGeom>
          <a:solidFill>
            <a:srgbClr val="FFFFFF"/>
          </a:solidFill>
          <a:ln>
            <a:noFill/>
          </a:ln>
          <a:effectLst>
            <a:outerShdw blurRad="76200" rotWithShape="0" algn="bl" dir="5400000" dist="25400">
              <a:srgbClr val="3A3A55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1500"/>
          </a:p>
        </p:txBody>
      </p:sp>
      <p:sp>
        <p:nvSpPr>
          <p:cNvPr id="181" name="Google Shape;181;p9"/>
          <p:cNvSpPr/>
          <p:nvPr/>
        </p:nvSpPr>
        <p:spPr>
          <a:xfrm>
            <a:off x="6172200" y="5342382"/>
            <a:ext cx="402336" cy="402336"/>
          </a:xfrm>
          <a:prstGeom prst="ellipse">
            <a:avLst/>
          </a:prstGeom>
          <a:solidFill>
            <a:srgbClr val="A8B8E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1500"/>
          </a:p>
        </p:txBody>
      </p:sp>
      <p:sp>
        <p:nvSpPr>
          <p:cNvPr id="182" name="Google Shape;182;p9"/>
          <p:cNvSpPr txBox="1"/>
          <p:nvPr/>
        </p:nvSpPr>
        <p:spPr>
          <a:xfrm>
            <a:off x="6720840" y="5116068"/>
            <a:ext cx="47548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300"/>
              <a:buFont typeface="Calibri"/>
              <a:buNone/>
            </a:pPr>
            <a:r>
              <a:rPr b="1" i="1" lang="en-US" sz="15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Flatten &amp; reshape</a:t>
            </a:r>
            <a:endParaRPr b="0" i="1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9"/>
          <p:cNvSpPr txBox="1"/>
          <p:nvPr/>
        </p:nvSpPr>
        <p:spPr>
          <a:xfrm>
            <a:off x="6720840" y="5426964"/>
            <a:ext cx="4754880" cy="5349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150"/>
              <a:buFont typeface="Calibri"/>
              <a:buNone/>
            </a:pPr>
            <a:r>
              <a:rPr b="0" i="1" lang="en-US" sz="15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Images are flattened to 784-dim vectors for the Discriminator, and reshaped back to 28×28 at the Generator output.</a:t>
            </a:r>
            <a:endParaRPr b="0" i="1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9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GAN-Based Handwritten Digit Generation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9"/>
          <p:cNvSpPr txBox="1"/>
          <p:nvPr/>
        </p:nvSpPr>
        <p:spPr>
          <a:xfrm>
            <a:off x="11274552" y="649224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C"/>
        </a:solidFill>
      </p:bgPr>
    </p:bg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10"/>
          <p:cNvSpPr txBox="1"/>
          <p:nvPr/>
        </p:nvSpPr>
        <p:spPr>
          <a:xfrm>
            <a:off x="548640" y="457200"/>
            <a:ext cx="96926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3000"/>
              <a:buFont typeface="Cambria"/>
              <a:buNone/>
            </a:pPr>
            <a:r>
              <a:rPr b="1" i="0" lang="en-US" sz="4500" u="none" cap="none" strike="noStrik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Generator Architecture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10"/>
          <p:cNvSpPr txBox="1"/>
          <p:nvPr/>
        </p:nvSpPr>
        <p:spPr>
          <a:xfrm>
            <a:off x="566928" y="256032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150"/>
              <a:buFont typeface="Calibri"/>
              <a:buNone/>
            </a:pPr>
            <a:r>
              <a:rPr b="1" i="0" lang="en-US" sz="20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05 · METHODOLOGY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10"/>
          <p:cNvSpPr/>
          <p:nvPr/>
        </p:nvSpPr>
        <p:spPr>
          <a:xfrm>
            <a:off x="4494276" y="1298448"/>
            <a:ext cx="3200400" cy="475488"/>
          </a:xfrm>
          <a:prstGeom prst="roundRect">
            <a:avLst>
              <a:gd fmla="val 13462" name="adj"/>
            </a:avLst>
          </a:prstGeom>
          <a:solidFill>
            <a:srgbClr val="FFFFFF"/>
          </a:solidFill>
          <a:ln>
            <a:noFill/>
          </a:ln>
          <a:effectLst>
            <a:outerShdw blurRad="76200" rotWithShape="0" algn="bl" dir="5400000" dist="25400">
              <a:srgbClr val="3A3A55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000"/>
          </a:p>
        </p:txBody>
      </p:sp>
      <p:sp>
        <p:nvSpPr>
          <p:cNvPr id="194" name="Google Shape;194;p10"/>
          <p:cNvSpPr txBox="1"/>
          <p:nvPr/>
        </p:nvSpPr>
        <p:spPr>
          <a:xfrm>
            <a:off x="4494276" y="1298448"/>
            <a:ext cx="320040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300"/>
              <a:buFont typeface="Calibri"/>
              <a:buNone/>
            </a:pPr>
            <a:r>
              <a:rPr b="1" i="0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Input: Noise vector  z</a:t>
            </a:r>
            <a:r>
              <a:rPr b="1" lang="en-US" sz="2000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(64,)</a:t>
            </a:r>
            <a:endParaRPr b="1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10"/>
          <p:cNvSpPr/>
          <p:nvPr/>
        </p:nvSpPr>
        <p:spPr>
          <a:xfrm>
            <a:off x="5993892" y="1815084"/>
            <a:ext cx="201168" cy="182880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6E6E8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000"/>
          </a:p>
        </p:txBody>
      </p:sp>
      <p:sp>
        <p:nvSpPr>
          <p:cNvPr id="196" name="Google Shape;196;p10"/>
          <p:cNvSpPr/>
          <p:nvPr/>
        </p:nvSpPr>
        <p:spPr>
          <a:xfrm>
            <a:off x="3991356" y="1906524"/>
            <a:ext cx="4206240" cy="475488"/>
          </a:xfrm>
          <a:prstGeom prst="roundRect">
            <a:avLst>
              <a:gd fmla="val 13462" name="adj"/>
            </a:avLst>
          </a:prstGeom>
          <a:solidFill>
            <a:srgbClr val="FFFFFF"/>
          </a:solidFill>
          <a:ln>
            <a:noFill/>
          </a:ln>
          <a:effectLst>
            <a:outerShdw blurRad="76200" rotWithShape="0" algn="bl" dir="5400000" dist="25400">
              <a:srgbClr val="3A3A55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000"/>
          </a:p>
        </p:txBody>
      </p:sp>
      <p:sp>
        <p:nvSpPr>
          <p:cNvPr id="197" name="Google Shape;197;p10"/>
          <p:cNvSpPr txBox="1"/>
          <p:nvPr/>
        </p:nvSpPr>
        <p:spPr>
          <a:xfrm>
            <a:off x="3991356" y="1906524"/>
            <a:ext cx="420624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300"/>
              <a:buFont typeface="Calibri"/>
              <a:buNone/>
            </a:pPr>
            <a:r>
              <a:rPr b="1" i="0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Linear(64 → 256) + LeakyReLU(0.2)</a:t>
            </a:r>
            <a:endParaRPr b="1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10"/>
          <p:cNvSpPr/>
          <p:nvPr/>
        </p:nvSpPr>
        <p:spPr>
          <a:xfrm>
            <a:off x="5993892" y="2423160"/>
            <a:ext cx="201168" cy="182880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6E6E8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000"/>
          </a:p>
        </p:txBody>
      </p:sp>
      <p:sp>
        <p:nvSpPr>
          <p:cNvPr id="199" name="Google Shape;199;p10"/>
          <p:cNvSpPr/>
          <p:nvPr/>
        </p:nvSpPr>
        <p:spPr>
          <a:xfrm>
            <a:off x="3442716" y="2514600"/>
            <a:ext cx="5303520" cy="475488"/>
          </a:xfrm>
          <a:prstGeom prst="roundRect">
            <a:avLst>
              <a:gd fmla="val 13462" name="adj"/>
            </a:avLst>
          </a:prstGeom>
          <a:solidFill>
            <a:srgbClr val="FFFFFF"/>
          </a:solidFill>
          <a:ln>
            <a:noFill/>
          </a:ln>
          <a:effectLst>
            <a:outerShdw blurRad="76200" rotWithShape="0" algn="bl" dir="5400000" dist="25400">
              <a:srgbClr val="3A3A55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000"/>
          </a:p>
        </p:txBody>
      </p:sp>
      <p:sp>
        <p:nvSpPr>
          <p:cNvPr id="200" name="Google Shape;200;p10"/>
          <p:cNvSpPr txBox="1"/>
          <p:nvPr/>
        </p:nvSpPr>
        <p:spPr>
          <a:xfrm>
            <a:off x="3442716" y="2514600"/>
            <a:ext cx="530352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300"/>
              <a:buFont typeface="Calibri"/>
              <a:buNone/>
            </a:pPr>
            <a:r>
              <a:rPr b="1" i="0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Linear(256 → 512) + LeakyReLU(0.2)</a:t>
            </a:r>
            <a:endParaRPr b="1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10"/>
          <p:cNvSpPr/>
          <p:nvPr/>
        </p:nvSpPr>
        <p:spPr>
          <a:xfrm>
            <a:off x="5993892" y="3031236"/>
            <a:ext cx="201168" cy="182880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6E6E8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000"/>
          </a:p>
        </p:txBody>
      </p:sp>
      <p:sp>
        <p:nvSpPr>
          <p:cNvPr id="202" name="Google Shape;202;p10"/>
          <p:cNvSpPr/>
          <p:nvPr/>
        </p:nvSpPr>
        <p:spPr>
          <a:xfrm>
            <a:off x="2894076" y="3122676"/>
            <a:ext cx="6400800" cy="475488"/>
          </a:xfrm>
          <a:prstGeom prst="roundRect">
            <a:avLst>
              <a:gd fmla="val 13462" name="adj"/>
            </a:avLst>
          </a:prstGeom>
          <a:solidFill>
            <a:srgbClr val="FFFFFF"/>
          </a:solidFill>
          <a:ln>
            <a:noFill/>
          </a:ln>
          <a:effectLst>
            <a:outerShdw blurRad="76200" rotWithShape="0" algn="bl" dir="5400000" dist="25400">
              <a:srgbClr val="3A3A55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000"/>
          </a:p>
        </p:txBody>
      </p:sp>
      <p:sp>
        <p:nvSpPr>
          <p:cNvPr id="203" name="Google Shape;203;p10"/>
          <p:cNvSpPr txBox="1"/>
          <p:nvPr/>
        </p:nvSpPr>
        <p:spPr>
          <a:xfrm>
            <a:off x="2894076" y="3122676"/>
            <a:ext cx="640080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300"/>
              <a:buFont typeface="Calibri"/>
              <a:buNone/>
            </a:pPr>
            <a:r>
              <a:rPr b="1" i="0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Linear(512 → 1024) + LeakyReLU(0.2)</a:t>
            </a:r>
            <a:endParaRPr b="1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10"/>
          <p:cNvSpPr/>
          <p:nvPr/>
        </p:nvSpPr>
        <p:spPr>
          <a:xfrm>
            <a:off x="5993892" y="3639312"/>
            <a:ext cx="201168" cy="182880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6E6E8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000"/>
          </a:p>
        </p:txBody>
      </p:sp>
      <p:sp>
        <p:nvSpPr>
          <p:cNvPr id="205" name="Google Shape;205;p10"/>
          <p:cNvSpPr/>
          <p:nvPr/>
        </p:nvSpPr>
        <p:spPr>
          <a:xfrm>
            <a:off x="2345436" y="3730752"/>
            <a:ext cx="7498080" cy="475488"/>
          </a:xfrm>
          <a:prstGeom prst="roundRect">
            <a:avLst>
              <a:gd fmla="val 13462" name="adj"/>
            </a:avLst>
          </a:prstGeom>
          <a:solidFill>
            <a:srgbClr val="FFFFFF"/>
          </a:solidFill>
          <a:ln>
            <a:noFill/>
          </a:ln>
          <a:effectLst>
            <a:outerShdw blurRad="76200" rotWithShape="0" algn="bl" dir="5400000" dist="25400">
              <a:srgbClr val="3A3A55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000"/>
          </a:p>
        </p:txBody>
      </p:sp>
      <p:sp>
        <p:nvSpPr>
          <p:cNvPr id="206" name="Google Shape;206;p10"/>
          <p:cNvSpPr txBox="1"/>
          <p:nvPr/>
        </p:nvSpPr>
        <p:spPr>
          <a:xfrm>
            <a:off x="2345436" y="3730752"/>
            <a:ext cx="749808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300"/>
              <a:buFont typeface="Calibri"/>
              <a:buNone/>
            </a:pPr>
            <a:r>
              <a:rPr b="1" i="0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Linear(1024 → 784) + Tanh</a:t>
            </a:r>
            <a:endParaRPr b="1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10"/>
          <p:cNvSpPr/>
          <p:nvPr/>
        </p:nvSpPr>
        <p:spPr>
          <a:xfrm>
            <a:off x="5993892" y="4247388"/>
            <a:ext cx="201168" cy="182880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6E6E8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000"/>
          </a:p>
        </p:txBody>
      </p:sp>
      <p:sp>
        <p:nvSpPr>
          <p:cNvPr id="208" name="Google Shape;208;p10"/>
          <p:cNvSpPr/>
          <p:nvPr/>
        </p:nvSpPr>
        <p:spPr>
          <a:xfrm>
            <a:off x="3808476" y="4338828"/>
            <a:ext cx="4572000" cy="475488"/>
          </a:xfrm>
          <a:prstGeom prst="roundRect">
            <a:avLst>
              <a:gd fmla="val 13462" name="adj"/>
            </a:avLst>
          </a:prstGeom>
          <a:solidFill>
            <a:srgbClr val="5D6FB0"/>
          </a:solidFill>
          <a:ln>
            <a:noFill/>
          </a:ln>
          <a:effectLst>
            <a:outerShdw blurRad="76200" rotWithShape="0" algn="bl" dir="5400000" dist="25400">
              <a:srgbClr val="3A3A55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000"/>
          </a:p>
        </p:txBody>
      </p:sp>
      <p:sp>
        <p:nvSpPr>
          <p:cNvPr id="209" name="Google Shape;209;p10"/>
          <p:cNvSpPr txBox="1"/>
          <p:nvPr/>
        </p:nvSpPr>
        <p:spPr>
          <a:xfrm>
            <a:off x="3808476" y="4338828"/>
            <a:ext cx="457200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Reshape → Image (1, 28, 28)</a:t>
            </a:r>
            <a:endParaRPr b="1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10"/>
          <p:cNvSpPr/>
          <p:nvPr/>
        </p:nvSpPr>
        <p:spPr>
          <a:xfrm>
            <a:off x="4174236" y="5134356"/>
            <a:ext cx="3840480" cy="438912"/>
          </a:xfrm>
          <a:prstGeom prst="roundRect">
            <a:avLst>
              <a:gd fmla="val 50000" name="adj"/>
            </a:avLst>
          </a:prstGeom>
          <a:solidFill>
            <a:srgbClr val="5D6FB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000"/>
          </a:p>
        </p:txBody>
      </p:sp>
      <p:sp>
        <p:nvSpPr>
          <p:cNvPr id="211" name="Google Shape;211;p10"/>
          <p:cNvSpPr txBox="1"/>
          <p:nvPr/>
        </p:nvSpPr>
        <p:spPr>
          <a:xfrm>
            <a:off x="4174236" y="5134356"/>
            <a:ext cx="384048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Generator parameters: 1,477,136</a:t>
            </a:r>
            <a:endParaRPr b="1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10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GAN-Based Handwritten Digit Generation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10"/>
          <p:cNvSpPr txBox="1"/>
          <p:nvPr/>
        </p:nvSpPr>
        <p:spPr>
          <a:xfrm>
            <a:off x="11274552" y="649224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C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11"/>
          <p:cNvSpPr txBox="1"/>
          <p:nvPr/>
        </p:nvSpPr>
        <p:spPr>
          <a:xfrm>
            <a:off x="548640" y="457200"/>
            <a:ext cx="96926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3000"/>
              <a:buFont typeface="Cambria"/>
              <a:buNone/>
            </a:pPr>
            <a:r>
              <a:rPr b="1" i="0" lang="en-US" sz="4500" u="none" cap="none" strike="noStrik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Discriminator Architecture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11"/>
          <p:cNvSpPr txBox="1"/>
          <p:nvPr/>
        </p:nvSpPr>
        <p:spPr>
          <a:xfrm>
            <a:off x="566928" y="256032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150"/>
              <a:buFont typeface="Calibri"/>
              <a:buNone/>
            </a:pPr>
            <a:r>
              <a:rPr b="1" i="0" lang="en-US" sz="20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05 · METHODOLOGY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11"/>
          <p:cNvSpPr/>
          <p:nvPr/>
        </p:nvSpPr>
        <p:spPr>
          <a:xfrm>
            <a:off x="2345436" y="1298448"/>
            <a:ext cx="7498080" cy="475488"/>
          </a:xfrm>
          <a:prstGeom prst="roundRect">
            <a:avLst>
              <a:gd fmla="val 13462" name="adj"/>
            </a:avLst>
          </a:prstGeom>
          <a:solidFill>
            <a:srgbClr val="FFFFFF"/>
          </a:solidFill>
          <a:ln>
            <a:noFill/>
          </a:ln>
          <a:effectLst>
            <a:outerShdw blurRad="76200" rotWithShape="0" algn="bl" dir="5400000" dist="25400">
              <a:srgbClr val="3A3A55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1"/>
          <p:cNvSpPr txBox="1"/>
          <p:nvPr/>
        </p:nvSpPr>
        <p:spPr>
          <a:xfrm>
            <a:off x="2345436" y="1298448"/>
            <a:ext cx="749808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300"/>
              <a:buFont typeface="Calibri"/>
              <a:buNone/>
            </a:pPr>
            <a:r>
              <a:rPr b="1" i="0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Input: Image flattened</a:t>
            </a:r>
            <a:r>
              <a:rPr b="1" lang="en-US" sz="2000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(784,)</a:t>
            </a:r>
            <a:endParaRPr b="1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11"/>
          <p:cNvSpPr/>
          <p:nvPr/>
        </p:nvSpPr>
        <p:spPr>
          <a:xfrm>
            <a:off x="5993892" y="1815084"/>
            <a:ext cx="201168" cy="182880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6E6E8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11"/>
          <p:cNvSpPr/>
          <p:nvPr/>
        </p:nvSpPr>
        <p:spPr>
          <a:xfrm>
            <a:off x="2894076" y="1906524"/>
            <a:ext cx="6400800" cy="475488"/>
          </a:xfrm>
          <a:prstGeom prst="roundRect">
            <a:avLst>
              <a:gd fmla="val 13462" name="adj"/>
            </a:avLst>
          </a:prstGeom>
          <a:solidFill>
            <a:srgbClr val="FFFFFF"/>
          </a:solidFill>
          <a:ln>
            <a:noFill/>
          </a:ln>
          <a:effectLst>
            <a:outerShdw blurRad="76200" rotWithShape="0" algn="bl" dir="5400000" dist="25400">
              <a:srgbClr val="3A3A55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5" name="Google Shape;225;p11"/>
          <p:cNvSpPr txBox="1"/>
          <p:nvPr/>
        </p:nvSpPr>
        <p:spPr>
          <a:xfrm>
            <a:off x="2894076" y="1906524"/>
            <a:ext cx="640080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300"/>
              <a:buFont typeface="Calibri"/>
              <a:buNone/>
            </a:pPr>
            <a:r>
              <a:rPr b="1" i="0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Linear(784 → 512) + LeakyReLU(0.2)</a:t>
            </a:r>
            <a:endParaRPr b="1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11"/>
          <p:cNvSpPr/>
          <p:nvPr/>
        </p:nvSpPr>
        <p:spPr>
          <a:xfrm>
            <a:off x="5993892" y="2423160"/>
            <a:ext cx="201168" cy="182880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6E6E8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7" name="Google Shape;227;p11"/>
          <p:cNvSpPr/>
          <p:nvPr/>
        </p:nvSpPr>
        <p:spPr>
          <a:xfrm>
            <a:off x="3442716" y="2514600"/>
            <a:ext cx="5303520" cy="475488"/>
          </a:xfrm>
          <a:prstGeom prst="roundRect">
            <a:avLst>
              <a:gd fmla="val 13462" name="adj"/>
            </a:avLst>
          </a:prstGeom>
          <a:solidFill>
            <a:srgbClr val="FFFFFF"/>
          </a:solidFill>
          <a:ln>
            <a:noFill/>
          </a:ln>
          <a:effectLst>
            <a:outerShdw blurRad="76200" rotWithShape="0" algn="bl" dir="5400000" dist="25400">
              <a:srgbClr val="3A3A55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8" name="Google Shape;228;p11"/>
          <p:cNvSpPr txBox="1"/>
          <p:nvPr/>
        </p:nvSpPr>
        <p:spPr>
          <a:xfrm>
            <a:off x="3442716" y="2514600"/>
            <a:ext cx="530352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300"/>
              <a:buFont typeface="Calibri"/>
              <a:buNone/>
            </a:pPr>
            <a:r>
              <a:rPr b="1" i="0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Linear(512 → 256) + LeakyReLU(0.2)</a:t>
            </a:r>
            <a:endParaRPr b="1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11"/>
          <p:cNvSpPr/>
          <p:nvPr/>
        </p:nvSpPr>
        <p:spPr>
          <a:xfrm>
            <a:off x="5993892" y="3031236"/>
            <a:ext cx="201168" cy="182880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6E6E8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11"/>
          <p:cNvSpPr/>
          <p:nvPr/>
        </p:nvSpPr>
        <p:spPr>
          <a:xfrm>
            <a:off x="3991356" y="3122676"/>
            <a:ext cx="4206240" cy="475488"/>
          </a:xfrm>
          <a:prstGeom prst="roundRect">
            <a:avLst>
              <a:gd fmla="val 13462" name="adj"/>
            </a:avLst>
          </a:prstGeom>
          <a:solidFill>
            <a:srgbClr val="FFFFFF"/>
          </a:solidFill>
          <a:ln>
            <a:noFill/>
          </a:ln>
          <a:effectLst>
            <a:outerShdw blurRad="76200" rotWithShape="0" algn="bl" dir="5400000" dist="25400">
              <a:srgbClr val="3A3A55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1" name="Google Shape;231;p11"/>
          <p:cNvSpPr txBox="1"/>
          <p:nvPr/>
        </p:nvSpPr>
        <p:spPr>
          <a:xfrm>
            <a:off x="3991356" y="3122676"/>
            <a:ext cx="420624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300"/>
              <a:buFont typeface="Calibri"/>
              <a:buNone/>
            </a:pPr>
            <a:r>
              <a:rPr b="1" i="0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Linear(256 → 128) + LeakyReLU(0.2)</a:t>
            </a:r>
            <a:endParaRPr b="1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11"/>
          <p:cNvSpPr/>
          <p:nvPr/>
        </p:nvSpPr>
        <p:spPr>
          <a:xfrm>
            <a:off x="5993892" y="3639312"/>
            <a:ext cx="201168" cy="182880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6E6E8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3" name="Google Shape;233;p11"/>
          <p:cNvSpPr/>
          <p:nvPr/>
        </p:nvSpPr>
        <p:spPr>
          <a:xfrm>
            <a:off x="4494276" y="3730752"/>
            <a:ext cx="3200400" cy="475488"/>
          </a:xfrm>
          <a:prstGeom prst="roundRect">
            <a:avLst>
              <a:gd fmla="val 13462" name="adj"/>
            </a:avLst>
          </a:prstGeom>
          <a:solidFill>
            <a:srgbClr val="FFFFFF"/>
          </a:solidFill>
          <a:ln>
            <a:noFill/>
          </a:ln>
          <a:effectLst>
            <a:outerShdw blurRad="76200" rotWithShape="0" algn="bl" dir="5400000" dist="25400">
              <a:srgbClr val="3A3A55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4" name="Google Shape;234;p11"/>
          <p:cNvSpPr txBox="1"/>
          <p:nvPr/>
        </p:nvSpPr>
        <p:spPr>
          <a:xfrm>
            <a:off x="4494276" y="3730752"/>
            <a:ext cx="320040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300"/>
              <a:buFont typeface="Calibri"/>
              <a:buNone/>
            </a:pPr>
            <a:r>
              <a:rPr b="1" i="0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Linear(128 → 1) + Sigmoid</a:t>
            </a:r>
            <a:endParaRPr b="1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11"/>
          <p:cNvSpPr/>
          <p:nvPr/>
        </p:nvSpPr>
        <p:spPr>
          <a:xfrm>
            <a:off x="5993892" y="4247388"/>
            <a:ext cx="201168" cy="182880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6E6E8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6" name="Google Shape;236;p11"/>
          <p:cNvSpPr/>
          <p:nvPr/>
        </p:nvSpPr>
        <p:spPr>
          <a:xfrm>
            <a:off x="4082796" y="4338828"/>
            <a:ext cx="4023360" cy="475488"/>
          </a:xfrm>
          <a:prstGeom prst="roundRect">
            <a:avLst>
              <a:gd fmla="val 13462" name="adj"/>
            </a:avLst>
          </a:prstGeom>
          <a:solidFill>
            <a:srgbClr val="D98A80"/>
          </a:solidFill>
          <a:ln>
            <a:noFill/>
          </a:ln>
          <a:effectLst>
            <a:outerShdw blurRad="76200" rotWithShape="0" algn="bl" dir="5400000" dist="25400">
              <a:srgbClr val="3A3A55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7" name="Google Shape;237;p11"/>
          <p:cNvSpPr txBox="1"/>
          <p:nvPr/>
        </p:nvSpPr>
        <p:spPr>
          <a:xfrm>
            <a:off x="4082796" y="4338828"/>
            <a:ext cx="402336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Output:</a:t>
            </a:r>
            <a:r>
              <a:rPr b="1" lang="en-US" sz="2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P(real) ∈ (0, 1)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11"/>
          <p:cNvSpPr/>
          <p:nvPr/>
        </p:nvSpPr>
        <p:spPr>
          <a:xfrm>
            <a:off x="4174236" y="5134356"/>
            <a:ext cx="3840480" cy="438912"/>
          </a:xfrm>
          <a:prstGeom prst="roundRect">
            <a:avLst>
              <a:gd fmla="val 50000" name="adj"/>
            </a:avLst>
          </a:prstGeom>
          <a:solidFill>
            <a:srgbClr val="5D6FB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" name="Google Shape;239;p11"/>
          <p:cNvSpPr txBox="1"/>
          <p:nvPr/>
        </p:nvSpPr>
        <p:spPr>
          <a:xfrm>
            <a:off x="4174236" y="5134356"/>
            <a:ext cx="384048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Discriminator parameters:  566,273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11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GAN-Based Handwritten Digit Generation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11"/>
          <p:cNvSpPr txBox="1"/>
          <p:nvPr/>
        </p:nvSpPr>
        <p:spPr>
          <a:xfrm>
            <a:off x="11274552" y="649224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C"/>
        </a:solidFill>
      </p:bgPr>
    </p:bg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12"/>
          <p:cNvSpPr txBox="1"/>
          <p:nvPr/>
        </p:nvSpPr>
        <p:spPr>
          <a:xfrm>
            <a:off x="548640" y="457200"/>
            <a:ext cx="96926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3000"/>
              <a:buFont typeface="Cambria"/>
              <a:buNone/>
            </a:pPr>
            <a:r>
              <a:rPr b="1" i="0" lang="en-US" sz="4500" u="none" cap="none" strike="noStrik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Implementation &amp; Training Setup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12"/>
          <p:cNvSpPr txBox="1"/>
          <p:nvPr/>
        </p:nvSpPr>
        <p:spPr>
          <a:xfrm>
            <a:off x="566928" y="256032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150"/>
              <a:buFont typeface="Calibri"/>
              <a:buNone/>
            </a:pPr>
            <a:r>
              <a:rPr b="1" i="0" lang="en-US" sz="20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06 · IMPLEMENTATION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49" name="Google Shape;249;p12"/>
          <p:cNvGraphicFramePr/>
          <p:nvPr/>
        </p:nvGraphicFramePr>
        <p:xfrm>
          <a:off x="548640" y="169164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{B97020A8-79D1-4FB3-AEF3-38DB3644C332}</a:tableStyleId>
              </a:tblPr>
              <a:tblGrid>
                <a:gridCol w="2103125"/>
                <a:gridCol w="3474725"/>
              </a:tblGrid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50"/>
                        <a:buFont typeface="Calibri"/>
                        <a:buNone/>
                      </a:pPr>
                      <a:r>
                        <a:rPr b="1" lang="en-US" sz="15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Component</a:t>
                      </a:r>
                      <a:endParaRPr sz="15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76200" marB="76200" marR="127000" marL="127000" anchor="ctr">
                    <a:lnL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5D6FB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50"/>
                        <a:buFont typeface="Calibri"/>
                        <a:buNone/>
                      </a:pPr>
                      <a:r>
                        <a:rPr b="1" lang="en-US" sz="15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Detail</a:t>
                      </a:r>
                      <a:endParaRPr sz="15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76200" marB="76200" marR="127000" marL="127000" anchor="ctr">
                    <a:lnL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5D6FB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E2E3A"/>
                        </a:buClr>
                        <a:buSzPts val="1250"/>
                        <a:buFont typeface="Calibri"/>
                        <a:buNone/>
                      </a:pPr>
                      <a:r>
                        <a:rPr b="1" i="1" lang="en-US" sz="1500" u="none" cap="none" strike="noStrike">
                          <a:solidFill>
                            <a:srgbClr val="2E2E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Framework</a:t>
                      </a:r>
                      <a:endParaRPr b="1" i="1" sz="15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76200" marB="76200" marR="127000" marL="127000" anchor="ctr">
                    <a:lnL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E2E3A"/>
                        </a:buClr>
                        <a:buSzPts val="1250"/>
                        <a:buFont typeface="Calibri"/>
                        <a:buNone/>
                      </a:pPr>
                      <a:r>
                        <a:rPr i="1" lang="en-US" sz="1500" u="none" cap="none" strike="noStrike">
                          <a:solidFill>
                            <a:srgbClr val="2E2E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PyTorch 2.11.0+cu128</a:t>
                      </a:r>
                      <a:endParaRPr i="1" sz="15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76200" marB="76200" marR="127000" marL="127000" anchor="ctr">
                    <a:lnL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E2E3A"/>
                        </a:buClr>
                        <a:buSzPts val="1250"/>
                        <a:buFont typeface="Calibri"/>
                        <a:buNone/>
                      </a:pPr>
                      <a:r>
                        <a:rPr b="1" i="1" lang="en-US" sz="1500" u="none" cap="none" strike="noStrike">
                          <a:solidFill>
                            <a:srgbClr val="2E2E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Hardware</a:t>
                      </a:r>
                      <a:endParaRPr b="1" i="1" sz="15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76200" marB="76200" marR="127000" marL="127000" anchor="ctr">
                    <a:lnL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E2E3A"/>
                        </a:buClr>
                        <a:buSzPts val="1250"/>
                        <a:buFont typeface="Calibri"/>
                        <a:buNone/>
                      </a:pPr>
                      <a:r>
                        <a:rPr i="1" lang="en-US" sz="1500" u="none" cap="none" strike="noStrike">
                          <a:solidFill>
                            <a:srgbClr val="2E2E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NVIDIA GeForce RTX 3050 Laptop GPU</a:t>
                      </a:r>
                      <a:endParaRPr i="1" sz="15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76200" marB="76200" marR="127000" marL="127000" anchor="ctr">
                    <a:lnL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1F2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E2E3A"/>
                        </a:buClr>
                        <a:buSzPts val="1250"/>
                        <a:buFont typeface="Calibri"/>
                        <a:buNone/>
                      </a:pPr>
                      <a:r>
                        <a:rPr b="1" i="1" lang="en-US" sz="1500" u="none" cap="none" strike="noStrike">
                          <a:solidFill>
                            <a:srgbClr val="2E2E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Optimiser</a:t>
                      </a:r>
                      <a:endParaRPr b="1" i="1" sz="15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76200" marB="76200" marR="127000" marL="127000" anchor="ctr">
                    <a:lnL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E2E3A"/>
                        </a:buClr>
                        <a:buSzPts val="1250"/>
                        <a:buFont typeface="Calibri"/>
                        <a:buNone/>
                      </a:pPr>
                      <a:r>
                        <a:rPr i="1" lang="en-US" sz="1500" u="none" cap="none" strike="noStrike">
                          <a:solidFill>
                            <a:srgbClr val="2E2E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Adam  (lr = 0.0002)</a:t>
                      </a:r>
                      <a:endParaRPr i="1" sz="15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76200" marB="76200" marR="127000" marL="127000" anchor="ctr">
                    <a:lnL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E2E3A"/>
                        </a:buClr>
                        <a:buSzPts val="1250"/>
                        <a:buFont typeface="Calibri"/>
                        <a:buNone/>
                      </a:pPr>
                      <a:r>
                        <a:rPr b="1" i="1" lang="en-US" sz="1500" u="none" cap="none" strike="noStrike">
                          <a:solidFill>
                            <a:srgbClr val="2E2E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Loss function</a:t>
                      </a:r>
                      <a:endParaRPr b="1" i="1" sz="15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76200" marB="76200" marR="127000" marL="127000" anchor="ctr">
                    <a:lnL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E2E3A"/>
                        </a:buClr>
                        <a:buSzPts val="1250"/>
                        <a:buFont typeface="Calibri"/>
                        <a:buNone/>
                      </a:pPr>
                      <a:r>
                        <a:rPr i="1" lang="en-US" sz="1500" u="none" cap="none" strike="noStrike">
                          <a:solidFill>
                            <a:srgbClr val="2E2E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Binary Cross-Entropy (BCELoss)</a:t>
                      </a:r>
                      <a:endParaRPr i="1" sz="15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76200" marB="76200" marR="127000" marL="127000" anchor="ctr">
                    <a:lnL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1F2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E2E3A"/>
                        </a:buClr>
                        <a:buSzPts val="1250"/>
                        <a:buFont typeface="Calibri"/>
                        <a:buNone/>
                      </a:pPr>
                      <a:r>
                        <a:rPr b="1" i="1" lang="en-US" sz="1500" u="none" cap="none" strike="noStrike">
                          <a:solidFill>
                            <a:srgbClr val="2E2E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Epochs</a:t>
                      </a:r>
                      <a:endParaRPr b="1" i="1" sz="15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76200" marB="76200" marR="127000" marL="127000" anchor="ctr">
                    <a:lnL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E2E3A"/>
                        </a:buClr>
                        <a:buSzPts val="1250"/>
                        <a:buFont typeface="Calibri"/>
                        <a:buNone/>
                      </a:pPr>
                      <a:r>
                        <a:rPr i="1" lang="en-US" sz="1500" u="none" cap="none" strike="noStrike">
                          <a:solidFill>
                            <a:srgbClr val="2E2E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50</a:t>
                      </a:r>
                      <a:endParaRPr i="1" sz="15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76200" marB="76200" marR="127000" marL="127000" anchor="ctr">
                    <a:lnL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E2E3A"/>
                        </a:buClr>
                        <a:buSzPts val="1250"/>
                        <a:buFont typeface="Calibri"/>
                        <a:buNone/>
                      </a:pPr>
                      <a:r>
                        <a:rPr b="1" i="1" lang="en-US" sz="1500" u="none" cap="none" strike="noStrike">
                          <a:solidFill>
                            <a:srgbClr val="2E2E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Batch size</a:t>
                      </a:r>
                      <a:endParaRPr b="1" i="1" sz="15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76200" marB="76200" marR="127000" marL="127000" anchor="ctr">
                    <a:lnL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E2E3A"/>
                        </a:buClr>
                        <a:buSzPts val="1250"/>
                        <a:buFont typeface="Calibri"/>
                        <a:buNone/>
                      </a:pPr>
                      <a:r>
                        <a:rPr i="1" lang="en-US" sz="1500" u="none" cap="none" strike="noStrike">
                          <a:solidFill>
                            <a:srgbClr val="2E2E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128</a:t>
                      </a:r>
                      <a:endParaRPr i="1" sz="15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76200" marB="76200" marR="127000" marL="127000" anchor="ctr">
                    <a:lnL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1F2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E2E3A"/>
                        </a:buClr>
                        <a:buSzPts val="1250"/>
                        <a:buFont typeface="Calibri"/>
                        <a:buNone/>
                      </a:pPr>
                      <a:r>
                        <a:rPr b="1" i="1" lang="en-US" sz="1500" u="none" cap="none" strike="noStrike">
                          <a:solidFill>
                            <a:srgbClr val="2E2E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Latent dimension</a:t>
                      </a:r>
                      <a:endParaRPr b="1" i="1" sz="15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76200" marB="76200" marR="127000" marL="127000" anchor="ctr">
                    <a:lnL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E2E3A"/>
                        </a:buClr>
                        <a:buSzPts val="1250"/>
                        <a:buFont typeface="Calibri"/>
                        <a:buNone/>
                      </a:pPr>
                      <a:r>
                        <a:rPr i="1" lang="en-US" sz="1500" u="none" cap="none" strike="noStrike">
                          <a:solidFill>
                            <a:srgbClr val="2E2E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64</a:t>
                      </a:r>
                      <a:endParaRPr i="1" sz="15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76200" marB="76200" marR="127000" marL="127000" anchor="ctr">
                    <a:lnL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0" name="Google Shape;250;p12"/>
          <p:cNvSpPr txBox="1"/>
          <p:nvPr/>
        </p:nvSpPr>
        <p:spPr>
          <a:xfrm>
            <a:off x="6446520" y="1691640"/>
            <a:ext cx="5212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300"/>
              <a:buFont typeface="Calibri"/>
              <a:buNone/>
            </a:pPr>
            <a:r>
              <a:rPr b="1" i="0" lang="en-US" sz="15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Training design choices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12"/>
          <p:cNvSpPr txBox="1"/>
          <p:nvPr/>
        </p:nvSpPr>
        <p:spPr>
          <a:xfrm>
            <a:off x="6446520" y="2103120"/>
            <a:ext cx="5257800" cy="3931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19075" lvl="0" marL="17780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2000"/>
              <a:buFont typeface="Calibri"/>
              <a:buChar char="●"/>
            </a:pPr>
            <a:r>
              <a:rPr b="0" i="1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Independent Adam optimisers for G and D, so each network updates from its own gradient</a:t>
            </a:r>
            <a:r>
              <a:rPr i="1" lang="en-US" sz="2000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s</a:t>
            </a:r>
            <a:r>
              <a:rPr b="0" i="1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b="0" i="1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19075" lvl="0" marL="177800" marR="0" rtl="0" algn="l">
              <a:lnSpc>
                <a:spcPct val="108000"/>
              </a:lnSpc>
              <a:spcBef>
                <a:spcPts val="1400"/>
              </a:spcBef>
              <a:spcAft>
                <a:spcPts val="0"/>
              </a:spcAft>
              <a:buClr>
                <a:srgbClr val="2E2E3A"/>
              </a:buClr>
              <a:buSzPts val="2000"/>
              <a:buFont typeface="Calibri"/>
              <a:buChar char="●"/>
            </a:pPr>
            <a:r>
              <a:rPr b="0" i="1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fake_imgs.detach() is used when computing the Discriminator's loss, which stops gradients flowing back into G during D's update step.</a:t>
            </a:r>
            <a:endParaRPr b="0" i="1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19075" lvl="0" marL="177800" marR="0" rtl="0" algn="l">
              <a:lnSpc>
                <a:spcPct val="108000"/>
              </a:lnSpc>
              <a:spcBef>
                <a:spcPts val="1400"/>
              </a:spcBef>
              <a:spcAft>
                <a:spcPts val="0"/>
              </a:spcAft>
              <a:buClr>
                <a:srgbClr val="2E2E3A"/>
              </a:buClr>
              <a:buSzPts val="2000"/>
              <a:buFont typeface="Calibri"/>
              <a:buChar char="●"/>
            </a:pPr>
            <a:r>
              <a:rPr b="0" i="1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A fixed 64-sample noise vector was reused every epoch, so generated samples could be compared side by side as training progressed.</a:t>
            </a:r>
            <a:endParaRPr b="0" i="1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19075" lvl="0" marL="177800" marR="0" rtl="0" algn="l">
              <a:lnSpc>
                <a:spcPct val="108000"/>
              </a:lnSpc>
              <a:spcBef>
                <a:spcPts val="1400"/>
              </a:spcBef>
              <a:spcAft>
                <a:spcPts val="0"/>
              </a:spcAft>
              <a:buClr>
                <a:srgbClr val="2E2E3A"/>
              </a:buClr>
              <a:buSzPts val="2000"/>
              <a:buFont typeface="Calibri"/>
              <a:buChar char="●"/>
            </a:pPr>
            <a:r>
              <a:rPr b="0" i="1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Sample grids saved every 5 epochs</a:t>
            </a:r>
            <a:r>
              <a:rPr i="1" lang="en-US" sz="2000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- </a:t>
            </a:r>
            <a:r>
              <a:rPr b="0" i="1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random seed fixed at 42 for reproducibility.</a:t>
            </a:r>
            <a:endParaRPr b="0" i="1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12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GAN-Based Handwritten Digit Generation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12"/>
          <p:cNvSpPr txBox="1"/>
          <p:nvPr/>
        </p:nvSpPr>
        <p:spPr>
          <a:xfrm>
            <a:off x="11274552" y="649224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C"/>
        </a:solidFill>
      </p:bgPr>
    </p:bg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13"/>
          <p:cNvSpPr txBox="1"/>
          <p:nvPr/>
        </p:nvSpPr>
        <p:spPr>
          <a:xfrm>
            <a:off x="548640" y="457200"/>
            <a:ext cx="96926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3000"/>
              <a:buFont typeface="Cambria"/>
              <a:buNone/>
            </a:pPr>
            <a:r>
              <a:rPr b="1" i="0" lang="en-US" sz="4500" u="none" cap="none" strike="noStrik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Training Dynamics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13"/>
          <p:cNvSpPr txBox="1"/>
          <p:nvPr/>
        </p:nvSpPr>
        <p:spPr>
          <a:xfrm>
            <a:off x="566928" y="256032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150"/>
              <a:buFont typeface="Calibri"/>
              <a:buNone/>
            </a:pPr>
            <a:r>
              <a:rPr b="1" i="0" lang="en-US" sz="20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07 · RESULTS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13"/>
          <p:cNvSpPr/>
          <p:nvPr/>
        </p:nvSpPr>
        <p:spPr>
          <a:xfrm>
            <a:off x="548640" y="1417320"/>
            <a:ext cx="11091672" cy="3703320"/>
          </a:xfrm>
          <a:prstGeom prst="roundRect">
            <a:avLst>
              <a:gd fmla="val 2469" name="adj"/>
            </a:avLst>
          </a:prstGeom>
          <a:solidFill>
            <a:srgbClr val="FFFFFF"/>
          </a:solidFill>
          <a:ln>
            <a:noFill/>
          </a:ln>
          <a:effectLst>
            <a:outerShdw blurRad="127000" rotWithShape="0" algn="bl" dir="5400000" dist="38100">
              <a:srgbClr val="3A3A55">
                <a:alpha val="1490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tmp/gan_ppt/assets/training_curves.png" id="262" name="Google Shape;262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7924" y="1691640"/>
            <a:ext cx="8833104" cy="3154680"/>
          </a:xfrm>
          <a:prstGeom prst="rect">
            <a:avLst/>
          </a:prstGeom>
          <a:noFill/>
          <a:ln>
            <a:noFill/>
          </a:ln>
        </p:spPr>
      </p:pic>
      <p:sp>
        <p:nvSpPr>
          <p:cNvPr id="263" name="Google Shape;263;p13"/>
          <p:cNvSpPr txBox="1"/>
          <p:nvPr/>
        </p:nvSpPr>
        <p:spPr>
          <a:xfrm>
            <a:off x="548640" y="5285232"/>
            <a:ext cx="11091672" cy="118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93675" lvl="0" marL="17780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500"/>
              <a:buFont typeface="Calibri"/>
              <a:buChar char="●"/>
            </a:pPr>
            <a:r>
              <a:rPr b="0" i="1" lang="en-US" sz="15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Over 50 epochs the discriminator held a consistent edge: </a:t>
            </a:r>
            <a:r>
              <a:rPr i="1" lang="en-US" sz="1500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I</a:t>
            </a:r>
            <a:r>
              <a:rPr b="0" i="1" lang="en-US" sz="15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ts confidence on real images rose from about 0.78 toward 0.85, while its confidence on generated images fell from about 0.23 toward 0.15.</a:t>
            </a:r>
            <a:endParaRPr b="0" i="1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93675" lvl="0" marL="177800" marR="0" rtl="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Clr>
                <a:srgbClr val="2E2E3A"/>
              </a:buClr>
              <a:buSzPts val="1500"/>
              <a:buFont typeface="Calibri"/>
              <a:buChar char="●"/>
            </a:pPr>
            <a:r>
              <a:rPr b="0" i="1" lang="en-US" sz="15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This pattern is common for a fully-connected generator competing against a comparatively strong discriminator, and it did not stop the generator from producing recognisable digits, as the following slides show.</a:t>
            </a:r>
            <a:endParaRPr b="0" i="1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13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GAN-Based Handwritten Digit Generation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13"/>
          <p:cNvSpPr txBox="1"/>
          <p:nvPr/>
        </p:nvSpPr>
        <p:spPr>
          <a:xfrm>
            <a:off x="11274552" y="649224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C"/>
        </a:solidFill>
      </p:bgPr>
    </p:bg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14"/>
          <p:cNvSpPr txBox="1"/>
          <p:nvPr/>
        </p:nvSpPr>
        <p:spPr>
          <a:xfrm>
            <a:off x="548640" y="457200"/>
            <a:ext cx="96926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3000"/>
              <a:buFont typeface="Cambria"/>
              <a:buNone/>
            </a:pPr>
            <a:r>
              <a:rPr b="1" i="0" lang="en-US" sz="4500" u="none" cap="none" strike="noStrik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Generation Quality Across Training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14"/>
          <p:cNvSpPr txBox="1"/>
          <p:nvPr/>
        </p:nvSpPr>
        <p:spPr>
          <a:xfrm>
            <a:off x="566928" y="256032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150"/>
              <a:buFont typeface="Calibri"/>
              <a:buNone/>
            </a:pPr>
            <a:r>
              <a:rPr b="1" i="0" lang="en-US" sz="20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07 · RESULTS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14"/>
          <p:cNvSpPr/>
          <p:nvPr/>
        </p:nvSpPr>
        <p:spPr>
          <a:xfrm>
            <a:off x="548640" y="1463040"/>
            <a:ext cx="3520440" cy="3520440"/>
          </a:xfrm>
          <a:prstGeom prst="roundRect">
            <a:avLst>
              <a:gd fmla="val 2597" name="adj"/>
            </a:avLst>
          </a:prstGeom>
          <a:solidFill>
            <a:srgbClr val="FFFFFF"/>
          </a:solidFill>
          <a:ln>
            <a:noFill/>
          </a:ln>
          <a:effectLst>
            <a:outerShdw blurRad="127000" rotWithShape="0" algn="bl" dir="5400000" dist="38100">
              <a:srgbClr val="3A3A55">
                <a:alpha val="1490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tmp/gan_ppt/assets/epoch_001.png" id="274" name="Google Shape;274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94944" y="1609344"/>
            <a:ext cx="3227832" cy="3227832"/>
          </a:xfrm>
          <a:prstGeom prst="rect">
            <a:avLst/>
          </a:prstGeom>
          <a:noFill/>
          <a:ln>
            <a:noFill/>
          </a:ln>
        </p:spPr>
      </p:pic>
      <p:sp>
        <p:nvSpPr>
          <p:cNvPr id="275" name="Google Shape;275;p14"/>
          <p:cNvSpPr txBox="1"/>
          <p:nvPr/>
        </p:nvSpPr>
        <p:spPr>
          <a:xfrm>
            <a:off x="548640" y="5093208"/>
            <a:ext cx="35204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350"/>
              <a:buFont typeface="Calibri"/>
              <a:buNone/>
            </a:pPr>
            <a:r>
              <a:rPr b="1" i="0" lang="en-US" sz="15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Epoch 1</a:t>
            </a:r>
            <a:endParaRPr b="1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14"/>
          <p:cNvSpPr txBox="1"/>
          <p:nvPr/>
        </p:nvSpPr>
        <p:spPr>
          <a:xfrm>
            <a:off x="548640" y="5404104"/>
            <a:ext cx="35204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100"/>
              <a:buFont typeface="Calibri"/>
              <a:buNone/>
            </a:pPr>
            <a:r>
              <a:rPr b="1" i="0" lang="en-US" sz="15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Random noise, no digit structure</a:t>
            </a:r>
            <a:endParaRPr b="1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14"/>
          <p:cNvSpPr/>
          <p:nvPr/>
        </p:nvSpPr>
        <p:spPr>
          <a:xfrm>
            <a:off x="4334256" y="1463040"/>
            <a:ext cx="3520440" cy="3520440"/>
          </a:xfrm>
          <a:prstGeom prst="roundRect">
            <a:avLst>
              <a:gd fmla="val 2597" name="adj"/>
            </a:avLst>
          </a:prstGeom>
          <a:solidFill>
            <a:srgbClr val="FFFFFF"/>
          </a:solidFill>
          <a:ln>
            <a:noFill/>
          </a:ln>
          <a:effectLst>
            <a:outerShdw blurRad="127000" rotWithShape="0" algn="bl" dir="5400000" dist="38100">
              <a:srgbClr val="3A3A55">
                <a:alpha val="1490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tmp/gan_ppt/assets/epoch_025.png" id="278" name="Google Shape;278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480560" y="1609344"/>
            <a:ext cx="3227832" cy="3227832"/>
          </a:xfrm>
          <a:prstGeom prst="rect">
            <a:avLst/>
          </a:prstGeom>
          <a:noFill/>
          <a:ln>
            <a:noFill/>
          </a:ln>
        </p:spPr>
      </p:pic>
      <p:sp>
        <p:nvSpPr>
          <p:cNvPr id="279" name="Google Shape;279;p14"/>
          <p:cNvSpPr txBox="1"/>
          <p:nvPr/>
        </p:nvSpPr>
        <p:spPr>
          <a:xfrm>
            <a:off x="4334256" y="5093208"/>
            <a:ext cx="35204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350"/>
              <a:buFont typeface="Calibri"/>
              <a:buNone/>
            </a:pPr>
            <a:r>
              <a:rPr b="1" i="0" lang="en-US" sz="15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Epoch 25</a:t>
            </a:r>
            <a:endParaRPr b="1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14"/>
          <p:cNvSpPr txBox="1"/>
          <p:nvPr/>
        </p:nvSpPr>
        <p:spPr>
          <a:xfrm>
            <a:off x="4334256" y="5404104"/>
            <a:ext cx="35204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100"/>
              <a:buFont typeface="Calibri"/>
              <a:buNone/>
            </a:pPr>
            <a:r>
              <a:rPr b="1" i="0" lang="en-US" sz="15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Rough digit-like shapes emerging</a:t>
            </a:r>
            <a:endParaRPr b="1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14"/>
          <p:cNvSpPr/>
          <p:nvPr/>
        </p:nvSpPr>
        <p:spPr>
          <a:xfrm>
            <a:off x="8119872" y="1463040"/>
            <a:ext cx="3520440" cy="3520440"/>
          </a:xfrm>
          <a:prstGeom prst="roundRect">
            <a:avLst>
              <a:gd fmla="val 2597" name="adj"/>
            </a:avLst>
          </a:prstGeom>
          <a:solidFill>
            <a:srgbClr val="FFFFFF"/>
          </a:solidFill>
          <a:ln>
            <a:noFill/>
          </a:ln>
          <a:effectLst>
            <a:outerShdw blurRad="127000" rotWithShape="0" algn="bl" dir="5400000" dist="38100">
              <a:srgbClr val="3A3A55">
                <a:alpha val="1490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tmp/gan_ppt/assets/epoch_050.png" id="282" name="Google Shape;282;p1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266176" y="1609344"/>
            <a:ext cx="3227832" cy="3227832"/>
          </a:xfrm>
          <a:prstGeom prst="rect">
            <a:avLst/>
          </a:prstGeom>
          <a:noFill/>
          <a:ln>
            <a:noFill/>
          </a:ln>
        </p:spPr>
      </p:pic>
      <p:sp>
        <p:nvSpPr>
          <p:cNvPr id="283" name="Google Shape;283;p14"/>
          <p:cNvSpPr txBox="1"/>
          <p:nvPr/>
        </p:nvSpPr>
        <p:spPr>
          <a:xfrm>
            <a:off x="8119872" y="5093208"/>
            <a:ext cx="35204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350"/>
              <a:buFont typeface="Calibri"/>
              <a:buNone/>
            </a:pPr>
            <a:r>
              <a:rPr b="1" i="0" lang="en-US" sz="15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Epoch 50</a:t>
            </a:r>
            <a:endParaRPr b="1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14"/>
          <p:cNvSpPr txBox="1"/>
          <p:nvPr/>
        </p:nvSpPr>
        <p:spPr>
          <a:xfrm>
            <a:off x="8119872" y="5404104"/>
            <a:ext cx="35204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100"/>
              <a:buFont typeface="Calibri"/>
              <a:buNone/>
            </a:pPr>
            <a:r>
              <a:rPr b="1" i="0" lang="en-US" sz="15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Recognisable digits across classes</a:t>
            </a:r>
            <a:endParaRPr b="1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14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GAN-Based Handwritten Digit Generation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14"/>
          <p:cNvSpPr txBox="1"/>
          <p:nvPr/>
        </p:nvSpPr>
        <p:spPr>
          <a:xfrm>
            <a:off x="11274552" y="649224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12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C"/>
        </a:solidFill>
      </p:bgPr>
    </p:bg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15"/>
          <p:cNvSpPr txBox="1"/>
          <p:nvPr/>
        </p:nvSpPr>
        <p:spPr>
          <a:xfrm>
            <a:off x="548640" y="457200"/>
            <a:ext cx="96926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3000"/>
              <a:buFont typeface="Cambria"/>
              <a:buNone/>
            </a:pPr>
            <a:r>
              <a:rPr b="1" i="0" lang="en-US" sz="4500" u="none" cap="none" strike="noStrik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Real vs Generated Digits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15"/>
          <p:cNvSpPr txBox="1"/>
          <p:nvPr/>
        </p:nvSpPr>
        <p:spPr>
          <a:xfrm>
            <a:off x="566928" y="256032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150"/>
              <a:buFont typeface="Calibri"/>
              <a:buNone/>
            </a:pPr>
            <a:r>
              <a:rPr b="1" i="0" lang="en-US" sz="20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07 · RESULTS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15"/>
          <p:cNvSpPr/>
          <p:nvPr/>
        </p:nvSpPr>
        <p:spPr>
          <a:xfrm>
            <a:off x="1883664" y="1417320"/>
            <a:ext cx="8412480" cy="4206240"/>
          </a:xfrm>
          <a:prstGeom prst="roundRect">
            <a:avLst>
              <a:gd fmla="val 2174" name="adj"/>
            </a:avLst>
          </a:prstGeom>
          <a:solidFill>
            <a:srgbClr val="FFFFFF"/>
          </a:solidFill>
          <a:ln>
            <a:noFill/>
          </a:ln>
          <a:effectLst>
            <a:outerShdw blurRad="127000" rotWithShape="0" algn="bl" dir="5400000" dist="38100">
              <a:srgbClr val="3A3A55">
                <a:alpha val="1490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tmp/gan_ppt/assets/real_vs_fake.png" id="295" name="Google Shape;295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432304" y="1691640"/>
            <a:ext cx="7315200" cy="3657600"/>
          </a:xfrm>
          <a:prstGeom prst="rect">
            <a:avLst/>
          </a:prstGeom>
          <a:noFill/>
          <a:ln>
            <a:noFill/>
          </a:ln>
        </p:spPr>
      </p:pic>
      <p:sp>
        <p:nvSpPr>
          <p:cNvPr id="296" name="Google Shape;296;p15"/>
          <p:cNvSpPr txBox="1"/>
          <p:nvPr/>
        </p:nvSpPr>
        <p:spPr>
          <a:xfrm>
            <a:off x="1280160" y="5760720"/>
            <a:ext cx="9601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250"/>
              <a:buFont typeface="Calibri"/>
              <a:buNone/>
            </a:pPr>
            <a:r>
              <a:rPr b="0" i="1" lang="en-US" sz="15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Generated digits are visually plausible across most classes, though slightly blurrier than real samples. This is typical of MLP-based generators, which do not exploit the spatial locality that convolutional layers capture.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1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GAN-Based Handwritten Digit Generation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15"/>
          <p:cNvSpPr txBox="1"/>
          <p:nvPr/>
        </p:nvSpPr>
        <p:spPr>
          <a:xfrm>
            <a:off x="11274552" y="649224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13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C"/>
        </a:solidFill>
      </p:bgPr>
    </p:bg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16"/>
          <p:cNvSpPr txBox="1"/>
          <p:nvPr/>
        </p:nvSpPr>
        <p:spPr>
          <a:xfrm>
            <a:off x="548640" y="457200"/>
            <a:ext cx="96926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3000"/>
              <a:buFont typeface="Cambria"/>
              <a:buNone/>
            </a:pPr>
            <a:r>
              <a:rPr b="1" i="0" lang="en-US" sz="4500" u="none" cap="none" strike="noStrik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Latent Space Interpolation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16"/>
          <p:cNvSpPr txBox="1"/>
          <p:nvPr/>
        </p:nvSpPr>
        <p:spPr>
          <a:xfrm>
            <a:off x="566928" y="256032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150"/>
              <a:buFont typeface="Calibri"/>
              <a:buNone/>
            </a:pPr>
            <a:r>
              <a:rPr b="1" i="0" lang="en-US" sz="20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07 · RESULTS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16"/>
          <p:cNvSpPr/>
          <p:nvPr/>
        </p:nvSpPr>
        <p:spPr>
          <a:xfrm>
            <a:off x="1280160" y="1920240"/>
            <a:ext cx="9601200" cy="1417320"/>
          </a:xfrm>
          <a:prstGeom prst="roundRect">
            <a:avLst>
              <a:gd fmla="val 6452" name="adj"/>
            </a:avLst>
          </a:prstGeom>
          <a:solidFill>
            <a:srgbClr val="FFFFFF"/>
          </a:solidFill>
          <a:ln>
            <a:noFill/>
          </a:ln>
          <a:effectLst>
            <a:outerShdw blurRad="127000" rotWithShape="0" algn="bl" dir="5400000" dist="38100">
              <a:srgbClr val="3A3A55">
                <a:alpha val="1490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tmp/gan_ppt/assets/latent_interpolation.png" id="307" name="Google Shape;307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74570" y="2121408"/>
            <a:ext cx="7612380" cy="1014984"/>
          </a:xfrm>
          <a:prstGeom prst="rect">
            <a:avLst/>
          </a:prstGeom>
          <a:noFill/>
          <a:ln>
            <a:noFill/>
          </a:ln>
        </p:spPr>
      </p:pic>
      <p:sp>
        <p:nvSpPr>
          <p:cNvPr id="308" name="Google Shape;308;p16"/>
          <p:cNvSpPr/>
          <p:nvPr/>
        </p:nvSpPr>
        <p:spPr>
          <a:xfrm>
            <a:off x="4174236" y="3611880"/>
            <a:ext cx="3840480" cy="420624"/>
          </a:xfrm>
          <a:prstGeom prst="roundRect">
            <a:avLst>
              <a:gd fmla="val 50000" name="adj"/>
            </a:avLst>
          </a:prstGeom>
          <a:solidFill>
            <a:srgbClr val="BFE3D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9" name="Google Shape;309;p16"/>
          <p:cNvSpPr txBox="1"/>
          <p:nvPr/>
        </p:nvSpPr>
        <p:spPr>
          <a:xfrm>
            <a:off x="4174236" y="3611880"/>
            <a:ext cx="384048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100"/>
              <a:buFont typeface="Calibri"/>
              <a:buNone/>
            </a:pPr>
            <a:r>
              <a:rPr b="1" i="0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10 interpolation steps</a:t>
            </a:r>
            <a:r>
              <a:rPr b="1" lang="en-US" sz="2000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z₁ → z₂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16"/>
          <p:cNvSpPr txBox="1"/>
          <p:nvPr/>
        </p:nvSpPr>
        <p:spPr>
          <a:xfrm>
            <a:off x="1463040" y="4434840"/>
            <a:ext cx="9235440" cy="1554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15900" lvl="0" marL="17780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2000"/>
              <a:buFont typeface="Calibri"/>
              <a:buChar char="●"/>
            </a:pPr>
            <a:r>
              <a:rPr b="0" i="1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Interpolating between two random noise vectors z₁ and z₂ produces a smooth, continuous sequence of plausible digit shapes rather than an abrupt jump.</a:t>
            </a:r>
            <a:endParaRPr b="0" i="1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15900" lvl="0" marL="177800" marR="0" rtl="0" algn="l">
              <a:lnSpc>
                <a:spcPct val="108000"/>
              </a:lnSpc>
              <a:spcBef>
                <a:spcPts val="1200"/>
              </a:spcBef>
              <a:spcAft>
                <a:spcPts val="0"/>
              </a:spcAft>
              <a:buClr>
                <a:srgbClr val="2E2E3A"/>
              </a:buClr>
              <a:buSzPts val="2000"/>
              <a:buFont typeface="Calibri"/>
              <a:buChar char="●"/>
            </a:pPr>
            <a:r>
              <a:rPr b="0" i="1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This is evidence that the Generator learned a structured latent space, instead of simply memorising individual training examples.</a:t>
            </a:r>
            <a:endParaRPr b="0" i="1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1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GAN-Based Handwritten Digit Generation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16"/>
          <p:cNvSpPr txBox="1"/>
          <p:nvPr/>
        </p:nvSpPr>
        <p:spPr>
          <a:xfrm>
            <a:off x="11274552" y="649224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14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C"/>
        </a:solidFill>
      </p:bgPr>
    </p:bg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17"/>
          <p:cNvSpPr txBox="1"/>
          <p:nvPr/>
        </p:nvSpPr>
        <p:spPr>
          <a:xfrm>
            <a:off x="548640" y="457200"/>
            <a:ext cx="96926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3000"/>
              <a:buFont typeface="Cambria"/>
              <a:buNone/>
            </a:pPr>
            <a:r>
              <a:rPr b="1" i="0" lang="en-US" sz="4500" u="none" cap="none" strike="noStrik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100 Digits Generated From Noise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17"/>
          <p:cNvSpPr txBox="1"/>
          <p:nvPr/>
        </p:nvSpPr>
        <p:spPr>
          <a:xfrm>
            <a:off x="566928" y="256032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150"/>
              <a:buFont typeface="Calibri"/>
              <a:buNone/>
            </a:pPr>
            <a:r>
              <a:rPr b="1" i="0" lang="en-US" sz="20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07 · RESULTS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17"/>
          <p:cNvSpPr/>
          <p:nvPr/>
        </p:nvSpPr>
        <p:spPr>
          <a:xfrm>
            <a:off x="685800" y="1463040"/>
            <a:ext cx="4709160" cy="4709160"/>
          </a:xfrm>
          <a:prstGeom prst="roundRect">
            <a:avLst>
              <a:gd fmla="val 1942" name="adj"/>
            </a:avLst>
          </a:prstGeom>
          <a:solidFill>
            <a:srgbClr val="FFFFFF"/>
          </a:solidFill>
          <a:ln>
            <a:noFill/>
          </a:ln>
          <a:effectLst>
            <a:outerShdw blurRad="127000" rotWithShape="0" algn="bl" dir="5400000" dist="38100">
              <a:srgbClr val="3A3A55">
                <a:alpha val="1490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tmp/gan_ppt/assets/final_generated_100.png" id="321" name="Google Shape;3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0392" y="1627632"/>
            <a:ext cx="4379976" cy="4379976"/>
          </a:xfrm>
          <a:prstGeom prst="rect">
            <a:avLst/>
          </a:prstGeom>
          <a:noFill/>
          <a:ln>
            <a:noFill/>
          </a:ln>
        </p:spPr>
      </p:pic>
      <p:sp>
        <p:nvSpPr>
          <p:cNvPr id="322" name="Google Shape;322;p17"/>
          <p:cNvSpPr txBox="1"/>
          <p:nvPr/>
        </p:nvSpPr>
        <p:spPr>
          <a:xfrm>
            <a:off x="5852160" y="2286000"/>
            <a:ext cx="5760720" cy="3474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09550" lvl="0" marL="17780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2000"/>
              <a:buFont typeface="Calibri"/>
              <a:buChar char="●"/>
            </a:pPr>
            <a:r>
              <a:rPr b="0" i="1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A representative spread across all ten digit classes (0–9), generated purely from random noise.</a:t>
            </a:r>
            <a:endParaRPr b="0" i="1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09550" lvl="0" marL="177800" marR="0" rtl="0" algn="l">
              <a:lnSpc>
                <a:spcPct val="108000"/>
              </a:lnSpc>
              <a:spcBef>
                <a:spcPts val="2000"/>
              </a:spcBef>
              <a:spcAft>
                <a:spcPts val="0"/>
              </a:spcAft>
              <a:buClr>
                <a:srgbClr val="2E2E3A"/>
              </a:buClr>
              <a:buSzPts val="2000"/>
              <a:buFont typeface="Calibri"/>
              <a:buChar char="●"/>
            </a:pPr>
            <a:r>
              <a:rPr b="0" i="1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Some classes appear more often than others, a mild imbalance rather than full mode collapse.</a:t>
            </a:r>
            <a:endParaRPr b="0" i="1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09550" lvl="0" marL="177800" marR="0" rtl="0" algn="l">
              <a:lnSpc>
                <a:spcPct val="108000"/>
              </a:lnSpc>
              <a:spcBef>
                <a:spcPts val="2000"/>
              </a:spcBef>
              <a:spcAft>
                <a:spcPts val="0"/>
              </a:spcAft>
              <a:buClr>
                <a:srgbClr val="2E2E3A"/>
              </a:buClr>
              <a:buSzPts val="2000"/>
              <a:buFont typeface="Calibri"/>
              <a:buChar char="●"/>
            </a:pPr>
            <a:r>
              <a:rPr b="0" i="1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A few ambiguous shapes remain, consistent with the blurring typical of MLP-based generators.</a:t>
            </a:r>
            <a:endParaRPr b="0" i="1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17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GAN-Based Handwritten Digit Generation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17"/>
          <p:cNvSpPr txBox="1"/>
          <p:nvPr/>
        </p:nvSpPr>
        <p:spPr>
          <a:xfrm>
            <a:off x="11274552" y="649224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15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C"/>
        </a:solidFill>
      </p:bgPr>
    </p:bg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18"/>
          <p:cNvSpPr txBox="1"/>
          <p:nvPr/>
        </p:nvSpPr>
        <p:spPr>
          <a:xfrm>
            <a:off x="548640" y="457200"/>
            <a:ext cx="96926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3000"/>
              <a:buFont typeface="Cambria"/>
              <a:buNone/>
            </a:pPr>
            <a:r>
              <a:rPr b="1" i="0" lang="en-US" sz="4500" u="none" cap="none" strike="noStrik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Analysis &amp; Interpretation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18"/>
          <p:cNvSpPr txBox="1"/>
          <p:nvPr/>
        </p:nvSpPr>
        <p:spPr>
          <a:xfrm>
            <a:off x="566928" y="256032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150"/>
              <a:buFont typeface="Calibri"/>
              <a:buNone/>
            </a:pPr>
            <a:r>
              <a:rPr b="1" i="0" lang="en-US" sz="20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08 · ANALYSIS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18"/>
          <p:cNvSpPr/>
          <p:nvPr/>
        </p:nvSpPr>
        <p:spPr>
          <a:xfrm>
            <a:off x="548640" y="1600200"/>
            <a:ext cx="5349240" cy="4617720"/>
          </a:xfrm>
          <a:prstGeom prst="roundRect">
            <a:avLst>
              <a:gd fmla="val 1980" name="adj"/>
            </a:avLst>
          </a:prstGeom>
          <a:solidFill>
            <a:srgbClr val="FFFFFF"/>
          </a:solidFill>
          <a:ln>
            <a:noFill/>
          </a:ln>
          <a:effectLst>
            <a:outerShdw blurRad="101600" rotWithShape="0" algn="bl" dir="5400000" dist="25400">
              <a:srgbClr val="3A3A55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2000"/>
          </a:p>
        </p:txBody>
      </p:sp>
      <p:sp>
        <p:nvSpPr>
          <p:cNvPr id="333" name="Google Shape;333;p18"/>
          <p:cNvSpPr/>
          <p:nvPr/>
        </p:nvSpPr>
        <p:spPr>
          <a:xfrm>
            <a:off x="822960" y="1874520"/>
            <a:ext cx="411480" cy="411480"/>
          </a:xfrm>
          <a:prstGeom prst="ellipse">
            <a:avLst/>
          </a:prstGeom>
          <a:solidFill>
            <a:srgbClr val="BFE3D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2000"/>
          </a:p>
        </p:txBody>
      </p:sp>
      <p:sp>
        <p:nvSpPr>
          <p:cNvPr id="334" name="Google Shape;334;p18"/>
          <p:cNvSpPr txBox="1"/>
          <p:nvPr/>
        </p:nvSpPr>
        <p:spPr>
          <a:xfrm>
            <a:off x="1371600" y="1874520"/>
            <a:ext cx="42519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600"/>
              <a:buFont typeface="Calibri"/>
              <a:buNone/>
            </a:pPr>
            <a:r>
              <a:rPr b="1" i="1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What Worked</a:t>
            </a:r>
            <a:endParaRPr b="0" i="1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18"/>
          <p:cNvSpPr txBox="1"/>
          <p:nvPr/>
        </p:nvSpPr>
        <p:spPr>
          <a:xfrm>
            <a:off x="868680" y="2514600"/>
            <a:ext cx="4709160" cy="3520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19075" lvl="0" marL="17780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2000"/>
              <a:buFont typeface="Calibri"/>
              <a:buChar char="●"/>
            </a:pPr>
            <a:r>
              <a:rPr b="0" i="1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Digit-like structure emerged by epoch 10–15 and became clearly recognisable by epoch 50, across multiple classes.</a:t>
            </a:r>
            <a:endParaRPr b="0" i="1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19075" lvl="0" marL="177800" marR="0" rtl="0" algn="l">
              <a:lnSpc>
                <a:spcPct val="108000"/>
              </a:lnSpc>
              <a:spcBef>
                <a:spcPts val="1600"/>
              </a:spcBef>
              <a:spcAft>
                <a:spcPts val="0"/>
              </a:spcAft>
              <a:buClr>
                <a:srgbClr val="2E2E3A"/>
              </a:buClr>
              <a:buSzPts val="2000"/>
              <a:buFont typeface="Calibri"/>
              <a:buChar char="●"/>
            </a:pPr>
            <a:r>
              <a:rPr b="0" i="1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Latent space interpolation confirmed a smooth, continuous internal representation rather than memorisation.</a:t>
            </a:r>
            <a:endParaRPr b="0" i="1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19075" lvl="0" marL="177800" marR="0" rtl="0" algn="l">
              <a:lnSpc>
                <a:spcPct val="108000"/>
              </a:lnSpc>
              <a:spcBef>
                <a:spcPts val="1600"/>
              </a:spcBef>
              <a:spcAft>
                <a:spcPts val="0"/>
              </a:spcAft>
              <a:buClr>
                <a:srgbClr val="2E2E3A"/>
              </a:buClr>
              <a:buSzPts val="2000"/>
              <a:buFont typeface="Calibri"/>
              <a:buChar char="●"/>
            </a:pPr>
            <a:r>
              <a:rPr b="0" i="1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The adversarial setup trained end to end without fully collapsing, and the generator kept improving throughout.</a:t>
            </a:r>
            <a:endParaRPr b="0" i="1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18"/>
          <p:cNvSpPr/>
          <p:nvPr/>
        </p:nvSpPr>
        <p:spPr>
          <a:xfrm>
            <a:off x="6080760" y="1600200"/>
            <a:ext cx="5349240" cy="4617720"/>
          </a:xfrm>
          <a:prstGeom prst="roundRect">
            <a:avLst>
              <a:gd fmla="val 1980" name="adj"/>
            </a:avLst>
          </a:prstGeom>
          <a:solidFill>
            <a:srgbClr val="FFFFFF"/>
          </a:solidFill>
          <a:ln>
            <a:noFill/>
          </a:ln>
          <a:effectLst>
            <a:outerShdw blurRad="101600" rotWithShape="0" algn="bl" dir="5400000" dist="25400">
              <a:srgbClr val="3A3A55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2000"/>
          </a:p>
        </p:txBody>
      </p:sp>
      <p:sp>
        <p:nvSpPr>
          <p:cNvPr id="337" name="Google Shape;337;p18"/>
          <p:cNvSpPr/>
          <p:nvPr/>
        </p:nvSpPr>
        <p:spPr>
          <a:xfrm>
            <a:off x="6355080" y="1874520"/>
            <a:ext cx="411480" cy="411480"/>
          </a:xfrm>
          <a:prstGeom prst="ellipse">
            <a:avLst/>
          </a:prstGeom>
          <a:solidFill>
            <a:srgbClr val="F6C6C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2000"/>
          </a:p>
        </p:txBody>
      </p:sp>
      <p:sp>
        <p:nvSpPr>
          <p:cNvPr id="338" name="Google Shape;338;p18"/>
          <p:cNvSpPr txBox="1"/>
          <p:nvPr/>
        </p:nvSpPr>
        <p:spPr>
          <a:xfrm>
            <a:off x="6903720" y="1874520"/>
            <a:ext cx="42519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600"/>
              <a:buFont typeface="Calibri"/>
              <a:buNone/>
            </a:pPr>
            <a:r>
              <a:rPr b="1" i="1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Limitations</a:t>
            </a:r>
            <a:endParaRPr b="0" i="1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18"/>
          <p:cNvSpPr txBox="1"/>
          <p:nvPr/>
        </p:nvSpPr>
        <p:spPr>
          <a:xfrm>
            <a:off x="6400800" y="2514600"/>
            <a:ext cx="4709160" cy="3520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12725" lvl="0" marL="17780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800"/>
              <a:buFont typeface="Calibri"/>
              <a:buChar char="●"/>
            </a:pPr>
            <a:r>
              <a:rPr b="0" i="1" lang="en-US" sz="18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No quantitative FID (Fréchet Inception Distance) score was computed, due to compute constraints.</a:t>
            </a:r>
            <a:endParaRPr b="0" i="1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12725" lvl="0" marL="177800" marR="0" rtl="0" algn="l">
              <a:lnSpc>
                <a:spcPct val="108000"/>
              </a:lnSpc>
              <a:spcBef>
                <a:spcPts val="1000"/>
              </a:spcBef>
              <a:spcAft>
                <a:spcPts val="0"/>
              </a:spcAft>
              <a:buClr>
                <a:srgbClr val="2E2E3A"/>
              </a:buClr>
              <a:buSzPts val="1800"/>
              <a:buFont typeface="Calibri"/>
              <a:buChar char="●"/>
            </a:pPr>
            <a:r>
              <a:rPr b="0" i="1" lang="en-US" sz="18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The discriminator kept a persistent edge rather than settling near the theoretical 0.5 equilibrium.</a:t>
            </a:r>
            <a:endParaRPr b="0" i="1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12725" lvl="0" marL="177800" marR="0" rtl="0" algn="l">
              <a:lnSpc>
                <a:spcPct val="108000"/>
              </a:lnSpc>
              <a:spcBef>
                <a:spcPts val="1000"/>
              </a:spcBef>
              <a:spcAft>
                <a:spcPts val="0"/>
              </a:spcAft>
              <a:buClr>
                <a:srgbClr val="2E2E3A"/>
              </a:buClr>
              <a:buSzPts val="1800"/>
              <a:buFont typeface="Calibri"/>
              <a:buChar char="●"/>
            </a:pPr>
            <a:r>
              <a:rPr b="0" i="1" lang="en-US" sz="18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MLP-based generation is blurrier than a convolutional (DCGAN-style) approach would produce.</a:t>
            </a:r>
            <a:endParaRPr b="0" i="1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12725" lvl="0" marL="177800" marR="0" rtl="0" algn="l">
              <a:lnSpc>
                <a:spcPct val="108000"/>
              </a:lnSpc>
              <a:spcBef>
                <a:spcPts val="1000"/>
              </a:spcBef>
              <a:spcAft>
                <a:spcPts val="0"/>
              </a:spcAft>
              <a:buClr>
                <a:srgbClr val="2E2E3A"/>
              </a:buClr>
              <a:buSzPts val="1800"/>
              <a:buFont typeface="Calibri"/>
              <a:buChar char="●"/>
            </a:pPr>
            <a:r>
              <a:rPr b="0" i="1" lang="en-US" sz="18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No class conditioning: the model cannot yet be asked to generate one specific digit.</a:t>
            </a:r>
            <a:endParaRPr b="0" i="1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1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GAN-Based Handwritten Digit Generation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18"/>
          <p:cNvSpPr txBox="1"/>
          <p:nvPr/>
        </p:nvSpPr>
        <p:spPr>
          <a:xfrm>
            <a:off x="11274552" y="649224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16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C"/>
        </a:solidFill>
      </p:bgPr>
    </p:bg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p19"/>
          <p:cNvSpPr txBox="1"/>
          <p:nvPr/>
        </p:nvSpPr>
        <p:spPr>
          <a:xfrm>
            <a:off x="548640" y="457200"/>
            <a:ext cx="96926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Conclusion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19"/>
          <p:cNvSpPr txBox="1"/>
          <p:nvPr/>
        </p:nvSpPr>
        <p:spPr>
          <a:xfrm>
            <a:off x="566928" y="256032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150"/>
              <a:buFont typeface="Calibri"/>
              <a:buNone/>
            </a:pPr>
            <a:r>
              <a:rPr b="1" i="0" lang="en-US" sz="20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09 · CONCLUSION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19"/>
          <p:cNvSpPr/>
          <p:nvPr/>
        </p:nvSpPr>
        <p:spPr>
          <a:xfrm>
            <a:off x="822960" y="1691640"/>
            <a:ext cx="10515600" cy="2423160"/>
          </a:xfrm>
          <a:prstGeom prst="roundRect">
            <a:avLst>
              <a:gd fmla="val 4528" name="adj"/>
            </a:avLst>
          </a:prstGeom>
          <a:solidFill>
            <a:srgbClr val="FFFFFF"/>
          </a:solidFill>
          <a:ln>
            <a:noFill/>
          </a:ln>
          <a:effectLst>
            <a:outerShdw blurRad="127000" rotWithShape="0" algn="bl" dir="5400000" dist="25400">
              <a:srgbClr val="3A3A55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0" name="Google Shape;350;p19"/>
          <p:cNvSpPr txBox="1"/>
          <p:nvPr/>
        </p:nvSpPr>
        <p:spPr>
          <a:xfrm>
            <a:off x="1188720" y="1965960"/>
            <a:ext cx="9784080" cy="1920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650"/>
              <a:buFont typeface="Cambria"/>
              <a:buNone/>
            </a:pPr>
            <a:r>
              <a:rPr b="0" i="1" lang="en-US" sz="1800" u="none" cap="none" strike="noStrik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A fully-connected GAN was implemented and trained on MNIST for 50 epochs, learning to generate visually plausible handwritten digits from 64-dimensional Gaussian noise across all ten digit classes. Latent space interpolation confirmed the model learned a smooth, structured internal representation rather than memorising the training set. The project validates the core GAN principle: two competing networks, trained together, can produce a working generative model.</a:t>
            </a:r>
            <a:endParaRPr b="0" i="1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19"/>
          <p:cNvSpPr/>
          <p:nvPr/>
        </p:nvSpPr>
        <p:spPr>
          <a:xfrm>
            <a:off x="653796" y="4480560"/>
            <a:ext cx="3383280" cy="1371600"/>
          </a:xfrm>
          <a:prstGeom prst="roundRect">
            <a:avLst>
              <a:gd fmla="val 6667" name="adj"/>
            </a:avLst>
          </a:prstGeom>
          <a:solidFill>
            <a:srgbClr val="A8B8E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19"/>
          <p:cNvSpPr txBox="1"/>
          <p:nvPr/>
        </p:nvSpPr>
        <p:spPr>
          <a:xfrm>
            <a:off x="653796" y="4617720"/>
            <a:ext cx="33832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2600"/>
              <a:buFont typeface="Cambria"/>
              <a:buNone/>
            </a:pPr>
            <a:r>
              <a:rPr b="1" i="0" lang="en-US" sz="2600" u="none" cap="none" strike="noStrik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50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19"/>
          <p:cNvSpPr txBox="1"/>
          <p:nvPr/>
        </p:nvSpPr>
        <p:spPr>
          <a:xfrm>
            <a:off x="653796" y="5303520"/>
            <a:ext cx="33832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Epochs trained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19"/>
          <p:cNvSpPr/>
          <p:nvPr/>
        </p:nvSpPr>
        <p:spPr>
          <a:xfrm>
            <a:off x="4402836" y="4480560"/>
            <a:ext cx="3383280" cy="1371600"/>
          </a:xfrm>
          <a:prstGeom prst="roundRect">
            <a:avLst>
              <a:gd fmla="val 6667" name="adj"/>
            </a:avLst>
          </a:prstGeom>
          <a:solidFill>
            <a:srgbClr val="F6C6C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5" name="Google Shape;355;p19"/>
          <p:cNvSpPr txBox="1"/>
          <p:nvPr/>
        </p:nvSpPr>
        <p:spPr>
          <a:xfrm>
            <a:off x="4402836" y="4617720"/>
            <a:ext cx="33832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2600"/>
              <a:buFont typeface="Cambria"/>
              <a:buNone/>
            </a:pPr>
            <a:r>
              <a:rPr b="1" i="0" lang="en-US" sz="2600" u="none" cap="none" strike="noStrik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1.48M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19"/>
          <p:cNvSpPr txBox="1"/>
          <p:nvPr/>
        </p:nvSpPr>
        <p:spPr>
          <a:xfrm>
            <a:off x="4402836" y="5303520"/>
            <a:ext cx="33832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Generator parameters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19"/>
          <p:cNvSpPr/>
          <p:nvPr/>
        </p:nvSpPr>
        <p:spPr>
          <a:xfrm>
            <a:off x="8151876" y="4480560"/>
            <a:ext cx="3383280" cy="1371600"/>
          </a:xfrm>
          <a:prstGeom prst="roundRect">
            <a:avLst>
              <a:gd fmla="val 6667" name="adj"/>
            </a:avLst>
          </a:prstGeom>
          <a:solidFill>
            <a:srgbClr val="BFE3D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8" name="Google Shape;358;p19"/>
          <p:cNvSpPr txBox="1"/>
          <p:nvPr/>
        </p:nvSpPr>
        <p:spPr>
          <a:xfrm>
            <a:off x="8151876" y="4617720"/>
            <a:ext cx="33832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2600"/>
              <a:buFont typeface="Cambria"/>
              <a:buNone/>
            </a:pPr>
            <a:r>
              <a:rPr b="1" i="0" lang="en-US" sz="2600" u="none" cap="none" strike="noStrik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10 / 10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19"/>
          <p:cNvSpPr txBox="1"/>
          <p:nvPr/>
        </p:nvSpPr>
        <p:spPr>
          <a:xfrm>
            <a:off x="8151876" y="5303520"/>
            <a:ext cx="33832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Digit classes represented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19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GAN-Based Handwritten Digit Generation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19"/>
          <p:cNvSpPr txBox="1"/>
          <p:nvPr/>
        </p:nvSpPr>
        <p:spPr>
          <a:xfrm>
            <a:off x="11274552" y="649224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17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C"/>
        </a:solidFill>
      </p:bgPr>
    </p:bg>
    <p:spTree>
      <p:nvGrpSpPr>
        <p:cNvPr id="366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0"/>
          <p:cNvSpPr txBox="1"/>
          <p:nvPr/>
        </p:nvSpPr>
        <p:spPr>
          <a:xfrm>
            <a:off x="548640" y="457200"/>
            <a:ext cx="96926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3000"/>
              <a:buFont typeface="Cambria"/>
              <a:buNone/>
            </a:pPr>
            <a:r>
              <a:rPr b="1" i="0" lang="en-US" sz="4500" u="none" cap="none" strike="noStrik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Future Scope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20"/>
          <p:cNvSpPr txBox="1"/>
          <p:nvPr/>
        </p:nvSpPr>
        <p:spPr>
          <a:xfrm>
            <a:off x="566928" y="256032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150"/>
              <a:buFont typeface="Calibri"/>
              <a:buNone/>
            </a:pPr>
            <a:r>
              <a:rPr b="1" i="0" lang="en-US" sz="20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10 · WHAT'S NEXT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9" name="Google Shape;369;p20"/>
          <p:cNvSpPr/>
          <p:nvPr/>
        </p:nvSpPr>
        <p:spPr>
          <a:xfrm>
            <a:off x="548640" y="1691640"/>
            <a:ext cx="2084832" cy="4206240"/>
          </a:xfrm>
          <a:prstGeom prst="roundRect">
            <a:avLst>
              <a:gd fmla="val 3947" name="adj"/>
            </a:avLst>
          </a:prstGeom>
          <a:solidFill>
            <a:srgbClr val="FFFFFF"/>
          </a:solidFill>
          <a:ln>
            <a:noFill/>
          </a:ln>
          <a:effectLst>
            <a:outerShdw blurRad="101600" rotWithShape="0" algn="bl" dir="5400000" dist="25400">
              <a:srgbClr val="3A3A55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/>
          </a:p>
        </p:txBody>
      </p:sp>
      <p:sp>
        <p:nvSpPr>
          <p:cNvPr id="370" name="Google Shape;370;p20"/>
          <p:cNvSpPr/>
          <p:nvPr/>
        </p:nvSpPr>
        <p:spPr>
          <a:xfrm>
            <a:off x="1353312" y="1947672"/>
            <a:ext cx="475488" cy="475488"/>
          </a:xfrm>
          <a:prstGeom prst="ellipse">
            <a:avLst/>
          </a:prstGeom>
          <a:solidFill>
            <a:srgbClr val="A8B8E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1" name="Google Shape;371;p20"/>
          <p:cNvSpPr txBox="1"/>
          <p:nvPr/>
        </p:nvSpPr>
        <p:spPr>
          <a:xfrm>
            <a:off x="1353312" y="1947672"/>
            <a:ext cx="475488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800"/>
              <a:buFont typeface="Cambria"/>
              <a:buNone/>
            </a:pPr>
            <a:r>
              <a:rPr b="1" i="0" lang="en-US" sz="1800" u="none" cap="none" strike="noStrik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1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20"/>
          <p:cNvSpPr txBox="1"/>
          <p:nvPr/>
        </p:nvSpPr>
        <p:spPr>
          <a:xfrm>
            <a:off x="676656" y="2606040"/>
            <a:ext cx="1828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300"/>
              <a:buFont typeface="Calibri"/>
              <a:buNone/>
            </a:pPr>
            <a:r>
              <a:rPr b="1" i="0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Conditional GAN</a:t>
            </a:r>
            <a:endParaRPr b="1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20"/>
          <p:cNvSpPr txBox="1"/>
          <p:nvPr/>
        </p:nvSpPr>
        <p:spPr>
          <a:xfrm>
            <a:off x="713232" y="3291840"/>
            <a:ext cx="1755648" cy="2377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050"/>
              <a:buFont typeface="Calibri"/>
              <a:buNone/>
            </a:pPr>
            <a:r>
              <a:rPr b="1" i="0" lang="en-US" sz="18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Condition on the digit class label to generate a specific digit on demand.</a:t>
            </a:r>
            <a:endParaRPr b="1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0"/>
          <p:cNvSpPr/>
          <p:nvPr/>
        </p:nvSpPr>
        <p:spPr>
          <a:xfrm>
            <a:off x="2779776" y="1691640"/>
            <a:ext cx="2084832" cy="4206240"/>
          </a:xfrm>
          <a:prstGeom prst="roundRect">
            <a:avLst>
              <a:gd fmla="val 3947" name="adj"/>
            </a:avLst>
          </a:prstGeom>
          <a:solidFill>
            <a:srgbClr val="FFFFFF"/>
          </a:solidFill>
          <a:ln>
            <a:noFill/>
          </a:ln>
          <a:effectLst>
            <a:outerShdw blurRad="101600" rotWithShape="0" algn="bl" dir="5400000" dist="25400">
              <a:srgbClr val="3A3A55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/>
          </a:p>
        </p:txBody>
      </p:sp>
      <p:sp>
        <p:nvSpPr>
          <p:cNvPr id="375" name="Google Shape;375;p20"/>
          <p:cNvSpPr/>
          <p:nvPr/>
        </p:nvSpPr>
        <p:spPr>
          <a:xfrm>
            <a:off x="3584448" y="1947672"/>
            <a:ext cx="475488" cy="475488"/>
          </a:xfrm>
          <a:prstGeom prst="ellipse">
            <a:avLst/>
          </a:prstGeom>
          <a:solidFill>
            <a:srgbClr val="F6C6C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6" name="Google Shape;376;p20"/>
          <p:cNvSpPr txBox="1"/>
          <p:nvPr/>
        </p:nvSpPr>
        <p:spPr>
          <a:xfrm>
            <a:off x="3584448" y="1947672"/>
            <a:ext cx="475488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800"/>
              <a:buFont typeface="Cambria"/>
              <a:buNone/>
            </a:pPr>
            <a:r>
              <a:rPr b="1" i="0" lang="en-US" sz="1800" u="none" cap="none" strike="noStrik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2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20"/>
          <p:cNvSpPr txBox="1"/>
          <p:nvPr/>
        </p:nvSpPr>
        <p:spPr>
          <a:xfrm>
            <a:off x="2907792" y="2606040"/>
            <a:ext cx="1828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300"/>
              <a:buFont typeface="Calibri"/>
              <a:buNone/>
            </a:pPr>
            <a:r>
              <a:rPr b="1" i="0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Wasserstein GAN</a:t>
            </a:r>
            <a:endParaRPr b="1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20"/>
          <p:cNvSpPr txBox="1"/>
          <p:nvPr/>
        </p:nvSpPr>
        <p:spPr>
          <a:xfrm>
            <a:off x="2944368" y="3291840"/>
            <a:ext cx="1755648" cy="2377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050"/>
              <a:buFont typeface="Calibri"/>
              <a:buNone/>
            </a:pPr>
            <a:r>
              <a:rPr b="1" i="0" lang="en-US" sz="18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Use the Wasserstein distance for more stable training and convergence.</a:t>
            </a:r>
            <a:endParaRPr b="1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20"/>
          <p:cNvSpPr/>
          <p:nvPr/>
        </p:nvSpPr>
        <p:spPr>
          <a:xfrm>
            <a:off x="5010912" y="1691640"/>
            <a:ext cx="2084832" cy="4206240"/>
          </a:xfrm>
          <a:prstGeom prst="roundRect">
            <a:avLst>
              <a:gd fmla="val 3947" name="adj"/>
            </a:avLst>
          </a:prstGeom>
          <a:solidFill>
            <a:srgbClr val="FFFFFF"/>
          </a:solidFill>
          <a:ln>
            <a:noFill/>
          </a:ln>
          <a:effectLst>
            <a:outerShdw blurRad="101600" rotWithShape="0" algn="bl" dir="5400000" dist="25400">
              <a:srgbClr val="3A3A55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/>
          </a:p>
        </p:txBody>
      </p:sp>
      <p:sp>
        <p:nvSpPr>
          <p:cNvPr id="380" name="Google Shape;380;p20"/>
          <p:cNvSpPr/>
          <p:nvPr/>
        </p:nvSpPr>
        <p:spPr>
          <a:xfrm>
            <a:off x="5815584" y="1947672"/>
            <a:ext cx="475488" cy="475488"/>
          </a:xfrm>
          <a:prstGeom prst="ellipse">
            <a:avLst/>
          </a:prstGeom>
          <a:solidFill>
            <a:srgbClr val="BFE3D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1" name="Google Shape;381;p20"/>
          <p:cNvSpPr txBox="1"/>
          <p:nvPr/>
        </p:nvSpPr>
        <p:spPr>
          <a:xfrm>
            <a:off x="5815584" y="1947672"/>
            <a:ext cx="475488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800"/>
              <a:buFont typeface="Cambria"/>
              <a:buNone/>
            </a:pPr>
            <a:r>
              <a:rPr b="1" i="0" lang="en-US" sz="1800" u="none" cap="none" strike="noStrik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3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20"/>
          <p:cNvSpPr txBox="1"/>
          <p:nvPr/>
        </p:nvSpPr>
        <p:spPr>
          <a:xfrm>
            <a:off x="5138928" y="2606040"/>
            <a:ext cx="1828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300"/>
              <a:buFont typeface="Calibri"/>
              <a:buNone/>
            </a:pPr>
            <a:r>
              <a:rPr b="1" i="0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FID Score</a:t>
            </a:r>
            <a:endParaRPr b="1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20"/>
          <p:cNvSpPr txBox="1"/>
          <p:nvPr/>
        </p:nvSpPr>
        <p:spPr>
          <a:xfrm>
            <a:off x="5175504" y="3291840"/>
            <a:ext cx="1755648" cy="2377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050"/>
              <a:buFont typeface="Calibri"/>
              <a:buNone/>
            </a:pPr>
            <a:r>
              <a:rPr b="1" i="0" lang="en-US" sz="18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Compute Fréchet Inception Distance for quantitative quality benchmarking.</a:t>
            </a:r>
            <a:endParaRPr b="1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20"/>
          <p:cNvSpPr/>
          <p:nvPr/>
        </p:nvSpPr>
        <p:spPr>
          <a:xfrm>
            <a:off x="7242048" y="1691640"/>
            <a:ext cx="2084832" cy="4206240"/>
          </a:xfrm>
          <a:prstGeom prst="roundRect">
            <a:avLst>
              <a:gd fmla="val 3947" name="adj"/>
            </a:avLst>
          </a:prstGeom>
          <a:solidFill>
            <a:srgbClr val="FFFFFF"/>
          </a:solidFill>
          <a:ln>
            <a:noFill/>
          </a:ln>
          <a:effectLst>
            <a:outerShdw blurRad="101600" rotWithShape="0" algn="bl" dir="5400000" dist="25400">
              <a:srgbClr val="3A3A55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/>
          </a:p>
        </p:txBody>
      </p:sp>
      <p:sp>
        <p:nvSpPr>
          <p:cNvPr id="385" name="Google Shape;385;p20"/>
          <p:cNvSpPr/>
          <p:nvPr/>
        </p:nvSpPr>
        <p:spPr>
          <a:xfrm>
            <a:off x="8046720" y="1947672"/>
            <a:ext cx="475488" cy="475488"/>
          </a:xfrm>
          <a:prstGeom prst="ellipse">
            <a:avLst/>
          </a:prstGeom>
          <a:solidFill>
            <a:srgbClr val="A8B8E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6" name="Google Shape;386;p20"/>
          <p:cNvSpPr txBox="1"/>
          <p:nvPr/>
        </p:nvSpPr>
        <p:spPr>
          <a:xfrm>
            <a:off x="8046720" y="1947672"/>
            <a:ext cx="475488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800"/>
              <a:buFont typeface="Cambria"/>
              <a:buNone/>
            </a:pPr>
            <a:r>
              <a:rPr b="1" i="0" lang="en-US" sz="1800" u="none" cap="none" strike="noStrik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4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20"/>
          <p:cNvSpPr txBox="1"/>
          <p:nvPr/>
        </p:nvSpPr>
        <p:spPr>
          <a:xfrm>
            <a:off x="7370064" y="2606040"/>
            <a:ext cx="1828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300"/>
              <a:buFont typeface="Calibri"/>
              <a:buNone/>
            </a:pPr>
            <a:r>
              <a:rPr b="1" i="0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Convolutional Upgrade</a:t>
            </a:r>
            <a:endParaRPr b="1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20"/>
          <p:cNvSpPr txBox="1"/>
          <p:nvPr/>
        </p:nvSpPr>
        <p:spPr>
          <a:xfrm>
            <a:off x="7406640" y="3291840"/>
            <a:ext cx="1755648" cy="2377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050"/>
              <a:buFont typeface="Calibri"/>
              <a:buNone/>
            </a:pPr>
            <a:r>
              <a:rPr b="1" i="0" lang="en-US" sz="18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Move to a DCGAN-style architecture for sharper, less blurry images.</a:t>
            </a:r>
            <a:endParaRPr b="1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20"/>
          <p:cNvSpPr/>
          <p:nvPr/>
        </p:nvSpPr>
        <p:spPr>
          <a:xfrm>
            <a:off x="9473184" y="1691640"/>
            <a:ext cx="2084832" cy="4206240"/>
          </a:xfrm>
          <a:prstGeom prst="roundRect">
            <a:avLst>
              <a:gd fmla="val 3947" name="adj"/>
            </a:avLst>
          </a:prstGeom>
          <a:solidFill>
            <a:srgbClr val="FFFFFF"/>
          </a:solidFill>
          <a:ln>
            <a:noFill/>
          </a:ln>
          <a:effectLst>
            <a:outerShdw blurRad="101600" rotWithShape="0" algn="bl" dir="5400000" dist="25400">
              <a:srgbClr val="3A3A55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/>
          </a:p>
        </p:txBody>
      </p:sp>
      <p:sp>
        <p:nvSpPr>
          <p:cNvPr id="390" name="Google Shape;390;p20"/>
          <p:cNvSpPr/>
          <p:nvPr/>
        </p:nvSpPr>
        <p:spPr>
          <a:xfrm>
            <a:off x="10277856" y="1947672"/>
            <a:ext cx="475488" cy="475488"/>
          </a:xfrm>
          <a:prstGeom prst="ellipse">
            <a:avLst/>
          </a:prstGeom>
          <a:solidFill>
            <a:srgbClr val="F6C6C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1" name="Google Shape;391;p20"/>
          <p:cNvSpPr txBox="1"/>
          <p:nvPr/>
        </p:nvSpPr>
        <p:spPr>
          <a:xfrm>
            <a:off x="10277856" y="1947672"/>
            <a:ext cx="475488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800"/>
              <a:buFont typeface="Cambria"/>
              <a:buNone/>
            </a:pPr>
            <a:r>
              <a:rPr b="1" i="0" lang="en-US" sz="1800" u="none" cap="none" strike="noStrik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5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20"/>
          <p:cNvSpPr txBox="1"/>
          <p:nvPr/>
        </p:nvSpPr>
        <p:spPr>
          <a:xfrm>
            <a:off x="9601200" y="2606040"/>
            <a:ext cx="1828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300"/>
              <a:buFont typeface="Calibri"/>
              <a:buNone/>
            </a:pPr>
            <a:r>
              <a:rPr b="1" i="0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Data Augmentation</a:t>
            </a:r>
            <a:endParaRPr b="1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20"/>
          <p:cNvSpPr txBox="1"/>
          <p:nvPr/>
        </p:nvSpPr>
        <p:spPr>
          <a:xfrm>
            <a:off x="9637776" y="3291840"/>
            <a:ext cx="1755648" cy="2377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050"/>
              <a:buFont typeface="Calibri"/>
              <a:buNone/>
            </a:pPr>
            <a:r>
              <a:rPr b="1" i="0" lang="en-US" sz="18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Use generated digits to augment classifiers trained on imbalanced data.</a:t>
            </a:r>
            <a:endParaRPr b="1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94;p20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GAN-Based Handwritten Digit Generation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20"/>
          <p:cNvSpPr txBox="1"/>
          <p:nvPr/>
        </p:nvSpPr>
        <p:spPr>
          <a:xfrm>
            <a:off x="11274552" y="649224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18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C"/>
        </a:solidFill>
      </p:bgPr>
    </p:bg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21"/>
          <p:cNvSpPr txBox="1"/>
          <p:nvPr/>
        </p:nvSpPr>
        <p:spPr>
          <a:xfrm>
            <a:off x="548640" y="457200"/>
            <a:ext cx="96926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3000"/>
              <a:buFont typeface="Cambria"/>
              <a:buNone/>
            </a:pPr>
            <a:r>
              <a:rPr b="1" i="0" lang="en-US" sz="4500" u="none" cap="none" strike="noStrik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Individual Contributions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" name="Google Shape;402;p21"/>
          <p:cNvSpPr txBox="1"/>
          <p:nvPr/>
        </p:nvSpPr>
        <p:spPr>
          <a:xfrm>
            <a:off x="566928" y="256032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150"/>
              <a:buFont typeface="Calibri"/>
              <a:buNone/>
            </a:pPr>
            <a:r>
              <a:rPr b="1" i="0" lang="en-US" sz="20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11 · TEAM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p21"/>
          <p:cNvSpPr/>
          <p:nvPr/>
        </p:nvSpPr>
        <p:spPr>
          <a:xfrm>
            <a:off x="548640" y="1600200"/>
            <a:ext cx="3538728" cy="4526280"/>
          </a:xfrm>
          <a:prstGeom prst="roundRect">
            <a:avLst>
              <a:gd fmla="val 2584" name="adj"/>
            </a:avLst>
          </a:prstGeom>
          <a:solidFill>
            <a:srgbClr val="FFFFFF"/>
          </a:solidFill>
          <a:ln>
            <a:noFill/>
          </a:ln>
          <a:effectLst>
            <a:outerShdw blurRad="114300" rotWithShape="0" algn="bl" dir="5400000" dist="25400">
              <a:srgbClr val="3A3A55">
                <a:alpha val="1294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4" name="Google Shape;404;p21"/>
          <p:cNvSpPr/>
          <p:nvPr/>
        </p:nvSpPr>
        <p:spPr>
          <a:xfrm>
            <a:off x="841248" y="1892808"/>
            <a:ext cx="640200" cy="640200"/>
          </a:xfrm>
          <a:prstGeom prst="ellipse">
            <a:avLst/>
          </a:prstGeom>
          <a:solidFill>
            <a:srgbClr val="BFE3D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tmp/gan_ppt/icons/users_dark.png" id="405" name="Google Shape;405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05840" y="2057400"/>
            <a:ext cx="310896" cy="310896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21"/>
          <p:cNvSpPr txBox="1"/>
          <p:nvPr/>
        </p:nvSpPr>
        <p:spPr>
          <a:xfrm>
            <a:off x="822960" y="2679192"/>
            <a:ext cx="2990088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700"/>
              <a:buFont typeface="Cambria"/>
              <a:buNone/>
            </a:pPr>
            <a:r>
              <a:rPr b="1" i="0" lang="en-US" sz="1700" u="none" cap="none" strike="noStrik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Amrith Saras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21"/>
          <p:cNvSpPr txBox="1"/>
          <p:nvPr/>
        </p:nvSpPr>
        <p:spPr>
          <a:xfrm>
            <a:off x="841248" y="3383280"/>
            <a:ext cx="2953512" cy="2606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00025" lvl="0" marL="17780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500"/>
              <a:buFont typeface="Calibri"/>
              <a:buChar char="●"/>
            </a:pPr>
            <a:r>
              <a:rPr b="0" i="0" lang="en-US" sz="15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Designed and implemented the Generator architecture and full training loop.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00025" lvl="0" marL="177800" marR="0" rtl="0" algn="l">
              <a:lnSpc>
                <a:spcPct val="108000"/>
              </a:lnSpc>
              <a:spcBef>
                <a:spcPts val="1200"/>
              </a:spcBef>
              <a:spcAft>
                <a:spcPts val="0"/>
              </a:spcAft>
              <a:buClr>
                <a:srgbClr val="2E2E3A"/>
              </a:buClr>
              <a:buSzPts val="1500"/>
              <a:buFont typeface="Calibri"/>
              <a:buChar char="●"/>
            </a:pPr>
            <a:r>
              <a:rPr b="0" i="0" lang="en-US" sz="15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Implemented the latent space interpolation experiment.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00025" lvl="0" marL="177800" marR="0" rtl="0" algn="l">
              <a:lnSpc>
                <a:spcPct val="108000"/>
              </a:lnSpc>
              <a:spcBef>
                <a:spcPts val="1200"/>
              </a:spcBef>
              <a:spcAft>
                <a:spcPts val="0"/>
              </a:spcAft>
              <a:buClr>
                <a:srgbClr val="2E2E3A"/>
              </a:buClr>
              <a:buSzPts val="1500"/>
              <a:buFont typeface="Calibri"/>
              <a:buChar char="●"/>
            </a:pPr>
            <a:r>
              <a:rPr b="0" i="0" lang="en-US" sz="15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Set up the GPU training environment (CUDA PyTorch).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8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21"/>
          <p:cNvSpPr/>
          <p:nvPr/>
        </p:nvSpPr>
        <p:spPr>
          <a:xfrm>
            <a:off x="4325112" y="1600200"/>
            <a:ext cx="3538728" cy="4526280"/>
          </a:xfrm>
          <a:prstGeom prst="roundRect">
            <a:avLst>
              <a:gd fmla="val 2584" name="adj"/>
            </a:avLst>
          </a:prstGeom>
          <a:solidFill>
            <a:srgbClr val="FFFFFF"/>
          </a:solidFill>
          <a:ln>
            <a:noFill/>
          </a:ln>
          <a:effectLst>
            <a:outerShdw blurRad="114300" rotWithShape="0" algn="bl" dir="5400000" dist="25400">
              <a:srgbClr val="3A3A55">
                <a:alpha val="1294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9" name="Google Shape;409;p21"/>
          <p:cNvSpPr/>
          <p:nvPr/>
        </p:nvSpPr>
        <p:spPr>
          <a:xfrm>
            <a:off x="4617720" y="1892808"/>
            <a:ext cx="640080" cy="640080"/>
          </a:xfrm>
          <a:prstGeom prst="ellipse">
            <a:avLst/>
          </a:prstGeom>
          <a:solidFill>
            <a:srgbClr val="F6C6C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tmp/gan_ppt/icons/users_dark.png" id="410" name="Google Shape;41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82312" y="2057400"/>
            <a:ext cx="310896" cy="310896"/>
          </a:xfrm>
          <a:prstGeom prst="rect">
            <a:avLst/>
          </a:prstGeom>
          <a:noFill/>
          <a:ln>
            <a:noFill/>
          </a:ln>
        </p:spPr>
      </p:pic>
      <p:sp>
        <p:nvSpPr>
          <p:cNvPr id="411" name="Google Shape;411;p21"/>
          <p:cNvSpPr txBox="1"/>
          <p:nvPr/>
        </p:nvSpPr>
        <p:spPr>
          <a:xfrm>
            <a:off x="4599432" y="2679192"/>
            <a:ext cx="2990088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700"/>
              <a:buFont typeface="Cambria"/>
              <a:buNone/>
            </a:pPr>
            <a:r>
              <a:rPr b="1" lang="en-US" sz="1700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Diya Jothish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" name="Google Shape;412;p21"/>
          <p:cNvSpPr txBox="1"/>
          <p:nvPr/>
        </p:nvSpPr>
        <p:spPr>
          <a:xfrm>
            <a:off x="4617720" y="3383280"/>
            <a:ext cx="2953512" cy="2606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23850" lvl="0" marL="457200" rtl="0" algn="l">
              <a:lnSpc>
                <a:spcPct val="108000"/>
              </a:lnSpc>
              <a:spcBef>
                <a:spcPts val="1200"/>
              </a:spcBef>
              <a:spcAft>
                <a:spcPts val="0"/>
              </a:spcAft>
              <a:buClr>
                <a:srgbClr val="2E2E3A"/>
              </a:buClr>
              <a:buSzPts val="1500"/>
              <a:buFont typeface="Calibri"/>
              <a:buChar char="●"/>
            </a:pPr>
            <a:r>
              <a:rPr lang="en-US" sz="1500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Verified model saving and loading.</a:t>
            </a:r>
            <a:endParaRPr sz="1500">
              <a:solidFill>
                <a:srgbClr val="2E2E3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23850" lvl="0" marL="45720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500"/>
              <a:buFont typeface="Calibri"/>
              <a:buChar char="●"/>
            </a:pPr>
            <a:r>
              <a:rPr b="0" i="0" lang="en-US" sz="15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Designed and implemented the Discriminator architecture and weight initialisation.</a:t>
            </a:r>
            <a:endParaRPr sz="1500">
              <a:solidFill>
                <a:srgbClr val="2E2E3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23850" lvl="0" marL="45720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500"/>
              <a:buFont typeface="Calibri"/>
              <a:buChar char="●"/>
            </a:pPr>
            <a:r>
              <a:rPr b="0" i="0" lang="en-US" sz="15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Coded all visualisation functions: epoch grids, loss curves, real vs fake.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marR="0" rtl="0" algn="l">
              <a:lnSpc>
                <a:spcPct val="108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0" i="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21"/>
          <p:cNvSpPr/>
          <p:nvPr/>
        </p:nvSpPr>
        <p:spPr>
          <a:xfrm>
            <a:off x="8101584" y="1600200"/>
            <a:ext cx="3538728" cy="4526280"/>
          </a:xfrm>
          <a:prstGeom prst="roundRect">
            <a:avLst>
              <a:gd fmla="val 2584" name="adj"/>
            </a:avLst>
          </a:prstGeom>
          <a:solidFill>
            <a:srgbClr val="FFFFFF"/>
          </a:solidFill>
          <a:ln>
            <a:noFill/>
          </a:ln>
          <a:effectLst>
            <a:outerShdw blurRad="114300" rotWithShape="0" algn="bl" dir="5400000" dist="25400">
              <a:srgbClr val="3A3A55">
                <a:alpha val="1294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4" name="Google Shape;414;p21"/>
          <p:cNvSpPr/>
          <p:nvPr/>
        </p:nvSpPr>
        <p:spPr>
          <a:xfrm>
            <a:off x="8394192" y="1892808"/>
            <a:ext cx="640200" cy="640200"/>
          </a:xfrm>
          <a:prstGeom prst="ellipse">
            <a:avLst/>
          </a:prstGeom>
          <a:solidFill>
            <a:srgbClr val="A8B8E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tmp/gan_ppt/icons/users_dark.png" id="415" name="Google Shape;415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58784" y="2057400"/>
            <a:ext cx="310896" cy="310896"/>
          </a:xfrm>
          <a:prstGeom prst="rect">
            <a:avLst/>
          </a:prstGeom>
          <a:noFill/>
          <a:ln>
            <a:noFill/>
          </a:ln>
        </p:spPr>
      </p:pic>
      <p:sp>
        <p:nvSpPr>
          <p:cNvPr id="416" name="Google Shape;416;p21"/>
          <p:cNvSpPr txBox="1"/>
          <p:nvPr/>
        </p:nvSpPr>
        <p:spPr>
          <a:xfrm>
            <a:off x="8375904" y="2679192"/>
            <a:ext cx="2990088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700"/>
              <a:buFont typeface="Cambria"/>
              <a:buNone/>
            </a:pPr>
            <a:r>
              <a:rPr b="1" lang="en-US" sz="1700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Annabel Marianne Victor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21"/>
          <p:cNvSpPr txBox="1"/>
          <p:nvPr/>
        </p:nvSpPr>
        <p:spPr>
          <a:xfrm>
            <a:off x="8394192" y="3383280"/>
            <a:ext cx="2953512" cy="2606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23850" lvl="0" marL="45720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500"/>
              <a:buFont typeface="Calibri"/>
              <a:buChar char="●"/>
            </a:pPr>
            <a:r>
              <a:rPr b="0" i="0" lang="en-US" sz="15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Handled MNIST data loading, normalisation and DataLoader setup.</a:t>
            </a:r>
            <a:endParaRPr b="0" i="0" sz="1500" u="none" cap="none" strike="noStrike">
              <a:solidFill>
                <a:srgbClr val="2E2E3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23850" lvl="0" marL="45720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500"/>
              <a:buFont typeface="Calibri"/>
              <a:buChar char="●"/>
            </a:pPr>
            <a:r>
              <a:rPr lang="en-US" sz="1500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Analysed training dynamics and documented the results.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23850" lvl="0" marL="45720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500"/>
              <a:buFont typeface="Calibri"/>
              <a:buChar char="●"/>
            </a:pPr>
            <a:r>
              <a:rPr lang="en-US" sz="1500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Verified generated image quality across epochs.</a:t>
            </a:r>
            <a:endParaRPr sz="1500">
              <a:solidFill>
                <a:srgbClr val="2E2E3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marR="0" rtl="0" algn="l">
              <a:lnSpc>
                <a:spcPct val="108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21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GAN-Based Handwritten Digit Generation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19;p21"/>
          <p:cNvSpPr txBox="1"/>
          <p:nvPr/>
        </p:nvSpPr>
        <p:spPr>
          <a:xfrm>
            <a:off x="11274552" y="649224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19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2B2A4A"/>
        </a:solidFill>
      </p:bgPr>
    </p:bg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p22"/>
          <p:cNvSpPr txBox="1"/>
          <p:nvPr/>
        </p:nvSpPr>
        <p:spPr>
          <a:xfrm>
            <a:off x="0" y="2914035"/>
            <a:ext cx="121890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Cambria"/>
              <a:buNone/>
            </a:pPr>
            <a:r>
              <a:rPr b="1" i="0" lang="en-US" sz="80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Thank You</a:t>
            </a:r>
            <a:endParaRPr b="0" i="0" sz="8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" name="Google Shape;426;p22"/>
          <p:cNvSpPr txBox="1"/>
          <p:nvPr/>
        </p:nvSpPr>
        <p:spPr>
          <a:xfrm>
            <a:off x="0" y="4572000"/>
            <a:ext cx="1218895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7C9E2"/>
              </a:buClr>
              <a:buSzPts val="1300"/>
              <a:buFont typeface="Calibri"/>
              <a:buNone/>
            </a:pPr>
            <a:r>
              <a:rPr b="1" i="0" lang="en-US" sz="2000" u="none" cap="none" strike="noStrike">
                <a:solidFill>
                  <a:srgbClr val="C7C9E2"/>
                </a:solidFill>
                <a:latin typeface="Calibri"/>
                <a:ea typeface="Calibri"/>
                <a:cs typeface="Calibri"/>
                <a:sym typeface="Calibri"/>
              </a:rPr>
              <a:t>Amrith Saras   ·   Annabel Marianne Victor   ·   Diya Jothish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" name="Google Shape;427;p22"/>
          <p:cNvSpPr txBox="1"/>
          <p:nvPr/>
        </p:nvSpPr>
        <p:spPr>
          <a:xfrm>
            <a:off x="0" y="4919472"/>
            <a:ext cx="12188952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96BE"/>
              </a:buClr>
              <a:buSzPts val="1100"/>
              <a:buFont typeface="Calibri"/>
              <a:buNone/>
            </a:pPr>
            <a:r>
              <a:rPr b="0" i="0" lang="en-US" sz="1500" u="none" cap="none" strike="noStrike">
                <a:solidFill>
                  <a:srgbClr val="9496BE"/>
                </a:solidFill>
                <a:latin typeface="Calibri"/>
                <a:ea typeface="Calibri"/>
                <a:cs typeface="Calibri"/>
                <a:sym typeface="Calibri"/>
              </a:rPr>
              <a:t>A15  ·  102903 / CO701B  Deep Learning  ·  Rajagiri School of Engineering &amp; Technology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