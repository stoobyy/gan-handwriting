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A15: GAN-Based Synthetic</a:t>
            </a:r>
          </a:p>
          <a:p>
            <a:r>
              <a:t>Handwritten Digit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Amrith Saras | Annabel Marianne Victor | Diya Jothish</a:t>
            </a:r>
          </a:p>
          <a:p>
            <a:r>
              <a:t>102903/CO701B Deep Learning | Rajagiri School of Engineering &amp; Technology</a:t>
            </a:r>
          </a:p>
          <a:p>
            <a:r>
              <a:t>Module 3 - Generative Adversarial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 Generate realistic synthetic handwritten digit images from random noise.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Objectives:</a:t>
            </a:r>
          </a:p>
          <a:p>
            <a:pPr>
              <a:defRPr sz="1800"/>
            </a:pPr>
            <a:r>
              <a:t>  1. Implement a DCGAN (Generator + Discriminator)</a:t>
            </a:r>
          </a:p>
          <a:p>
            <a:pPr>
              <a:defRPr sz="1800"/>
            </a:pPr>
            <a:r>
              <a:t>  2. Train on MNIST - 60,000 greyscale 28x28 digit images</a:t>
            </a:r>
          </a:p>
          <a:p>
            <a:pPr>
              <a:defRPr sz="1800"/>
            </a:pPr>
            <a:r>
              <a:t>  3. Generate novel synthetic digit images</a:t>
            </a:r>
          </a:p>
          <a:p>
            <a:pPr>
              <a:defRPr sz="1800"/>
            </a:pPr>
            <a:r>
              <a:t>  4. Analyse generation quality visually and through loss curves</a:t>
            </a:r>
          </a:p>
          <a:p>
            <a:pPr>
              <a:defRPr sz="1800"/>
            </a:pPr>
            <a:r>
              <a:t>  5. Perform latent space interpolation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How a GAN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Two networks in a minimax game: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Generator G:  Noise z -&gt; Fake image G(z)</a:t>
            </a:r>
          </a:p>
          <a:p>
            <a:pPr>
              <a:defRPr sz="1800"/>
            </a:pPr>
            <a:r>
              <a:t>Discriminator D:  Image -&gt; P(real) in (0,1)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Objective:</a:t>
            </a:r>
          </a:p>
          <a:p>
            <a:pPr>
              <a:defRPr sz="1800"/>
            </a:pPr>
            <a:r>
              <a:t>  min_G max_D  E[log D(x)] + E[log(1 - D(G(z)))]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Nash Equilibrium: D*(x) = 0.5 for all x</a:t>
            </a:r>
          </a:p>
          <a:p>
            <a:pPr>
              <a:defRPr sz="1800"/>
            </a:pPr>
            <a:r>
              <a:t>  -&gt; D cannot distinguish real from fake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Architecture: Fully-Connected 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Both Generator and Discriminator use stacked Linear layers (MLP).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this design:</a:t>
            </a:r>
          </a:p>
          <a:p>
            <a:pPr>
              <a:defRPr sz="1800"/>
            </a:pPr>
            <a:r>
              <a:t>  - Simple to implement and understand</a:t>
            </a:r>
          </a:p>
          <a:p>
            <a:pPr>
              <a:defRPr sz="1800"/>
            </a:pPr>
            <a:r>
              <a:t>  - No complex convolution/padding/stride arithmetic</a:t>
            </a:r>
          </a:p>
          <a:p>
            <a:pPr>
              <a:defRPr sz="1800"/>
            </a:pPr>
            <a:r>
              <a:t>  - Works well on 28x28 greyscale MNIST images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choices:</a:t>
            </a:r>
          </a:p>
          <a:p>
            <a:pPr>
              <a:defRPr sz="1800"/>
            </a:pPr>
            <a:r>
              <a:t>  - LeakyReLU(0.2) in hidden layers -&gt; avoids dead neurons</a:t>
            </a:r>
          </a:p>
          <a:p>
            <a:pPr>
              <a:defRPr sz="1800"/>
            </a:pPr>
            <a:r>
              <a:t>  - Tanh at G output -&gt; matches normalised image range [-1, 1]</a:t>
            </a:r>
          </a:p>
          <a:p>
            <a:pPr>
              <a:defRPr sz="1800"/>
            </a:pPr>
            <a:r>
              <a:t>  - Sigmoid at D output -&gt; produces probability (0 to 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Generator: 1,477,136 parameters</a:t>
            </a:r>
          </a:p>
          <a:p>
            <a:pPr>
              <a:defRPr sz="1800"/>
            </a:pPr>
            <a:r>
              <a:t>Discriminator: 566,273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Generator &amp; Discriminator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GENERATOR  (noise -&gt; image)</a:t>
            </a:r>
          </a:p>
          <a:p>
            <a:pPr>
              <a:defRPr sz="1800"/>
            </a:pPr>
            <a:r>
              <a:t>  z (64)  -&gt; Linear(64-&gt;256)   + LeakyReLU</a:t>
            </a:r>
          </a:p>
          <a:p>
            <a:pPr>
              <a:defRPr sz="1800"/>
            </a:pPr>
            <a:r>
              <a:t>           -&gt; Linear(256-&gt;512)  + LeakyReLU</a:t>
            </a:r>
          </a:p>
          <a:p>
            <a:pPr>
              <a:defRPr sz="1800"/>
            </a:pPr>
            <a:r>
              <a:t>           -&gt; Linear(512-&gt;1024) + LeakyReLU</a:t>
            </a:r>
          </a:p>
          <a:p>
            <a:pPr>
              <a:defRPr sz="1800"/>
            </a:pPr>
            <a:r>
              <a:t>           -&gt; Linear(1024-&gt;784) + Tanh</a:t>
            </a:r>
          </a:p>
          <a:p>
            <a:pPr>
              <a:defRPr sz="1800"/>
            </a:pPr>
            <a:r>
              <a:t>           -&gt; reshape to (1, 28, 28)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DISCRIMINATOR  (image -&gt; real/fake probability)</a:t>
            </a:r>
          </a:p>
          <a:p>
            <a:pPr>
              <a:defRPr sz="1800"/>
            </a:pPr>
            <a:r>
              <a:t>  (1,28,28) -&gt; flatten to (784,)</a:t>
            </a:r>
          </a:p>
          <a:p>
            <a:pPr>
              <a:defRPr sz="1800"/>
            </a:pPr>
            <a:r>
              <a:t>            -&gt; Linear(784-&gt;512) + LeakyReLU</a:t>
            </a:r>
          </a:p>
          <a:p>
            <a:pPr>
              <a:defRPr sz="1800"/>
            </a:pPr>
            <a:r>
              <a:t>            -&gt; Linear(512-&gt;256) + LeakyReLU</a:t>
            </a:r>
          </a:p>
          <a:p>
            <a:pPr>
              <a:defRPr sz="1800"/>
            </a:pPr>
            <a:r>
              <a:t>            -&gt; Linear(256-&gt;128) + LeakyReLU</a:t>
            </a:r>
          </a:p>
          <a:p>
            <a:pPr>
              <a:defRPr sz="1800"/>
            </a:pPr>
            <a:r>
              <a:t>            -&gt; Linear(128-&gt;1)   + Sigmoid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MNIST</a:t>
            </a:r>
          </a:p>
          <a:p>
            <a:pPr>
              <a:defRPr sz="1800"/>
            </a:pPr>
            <a:r>
              <a:t>  - 60,000 training images, 10,000 test images</a:t>
            </a:r>
          </a:p>
          <a:p>
            <a:pPr>
              <a:defRPr sz="1800"/>
            </a:pPr>
            <a:r>
              <a:t>  - Greyscale, 28x28 pixels, 10 classes (0-9)</a:t>
            </a:r>
          </a:p>
          <a:p>
            <a:pPr>
              <a:defRPr sz="1800"/>
            </a:pPr>
            <a:r>
              <a:t>  - Source: torchvision.datasets.MNIST (auto-download)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Preprocessing:</a:t>
            </a:r>
          </a:p>
          <a:p>
            <a:pPr>
              <a:defRPr sz="1800"/>
            </a:pPr>
            <a:r>
              <a:t>  - ToTensor(): converts PIL image to [0,1] float tensor</a:t>
            </a:r>
          </a:p>
          <a:p>
            <a:pPr>
              <a:defRPr sz="1800"/>
            </a:pPr>
            <a:r>
              <a:t>  - Normalize([0.5],[0.5]): maps [0,1] -&gt; [-1,1]</a:t>
            </a:r>
          </a:p>
          <a:p>
            <a:pPr>
              <a:defRPr sz="1800"/>
            </a:pPr>
            <a:r>
              <a:t>    (matches Tanh output range of Generator)</a:t>
            </a:r>
          </a:p>
          <a:p>
            <a:pPr>
              <a:defRPr sz="1800"/>
            </a:pPr>
            <a:r>
              <a:t>  - Batch size: 128 | Shuffled each epoch</a:t>
            </a:r>
          </a:p>
        </p:txBody>
      </p:sp>
      <p:pic>
        <p:nvPicPr>
          <p:cNvPr id="4" name="Picture 3" descr="re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Framework:  PyTorch 2.11.0+cu128</a:t>
            </a:r>
          </a:p>
          <a:p>
            <a:pPr>
              <a:defRPr sz="1800"/>
            </a:pPr>
            <a:r>
              <a:t>Hardware:   NVIDIA GeForce RTX 3050 Laptop GPU</a:t>
            </a:r>
          </a:p>
          <a:p>
            <a:pPr>
              <a:defRPr sz="1800"/>
            </a:pPr>
            <a:r>
              <a:t>Epochs:     50</a:t>
            </a:r>
          </a:p>
          <a:p>
            <a:pPr>
              <a:defRPr sz="1800"/>
            </a:pPr>
            <a:r>
              <a:t>Batch size: 128</a:t>
            </a:r>
          </a:p>
          <a:p>
            <a:pPr>
              <a:defRPr sz="1800"/>
            </a:pPr>
            <a:r>
              <a:t>Optimiser:  Adam (lr=0.0002) for both G and D</a:t>
            </a:r>
          </a:p>
          <a:p>
            <a:pPr>
              <a:defRPr sz="1800"/>
            </a:pPr>
            <a:r>
              <a:t>Loss:       Binary Cross-Entropy (BCELoss)</a:t>
            </a:r>
          </a:p>
          <a:p>
            <a:pPr>
              <a:defRPr sz="1800"/>
            </a:pPr>
            <a:r>
              <a:t>Latent dim: 64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Fixed noise (64 samples) used for epoch-by-epoch visual tracking.</a:t>
            </a:r>
          </a:p>
          <a:p>
            <a:pPr>
              <a:defRPr sz="1800"/>
            </a:pPr>
            <a:r>
              <a:t>Images normalised to [-1, 1] to match Tanh output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Progression</a:t>
            </a:r>
          </a:p>
        </p:txBody>
      </p:sp>
      <p:pic>
        <p:nvPicPr>
          <p:cNvPr id="3" name="Picture 2" descr="epoch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Epoch 1</a:t>
            </a:r>
          </a:p>
        </p:txBody>
      </p:sp>
      <p:pic>
        <p:nvPicPr>
          <p:cNvPr id="5" name="Picture 4" descr="epoch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Epoch 25</a:t>
            </a:r>
          </a:p>
        </p:txBody>
      </p:sp>
      <p:pic>
        <p:nvPicPr>
          <p:cNvPr id="7" name="Picture 6" descr="epoch_0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Epoch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Loss Curves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vs GAN-Generated Digits</a:t>
            </a:r>
          </a:p>
        </p:txBody>
      </p:sp>
      <p:pic>
        <p:nvPicPr>
          <p:cNvPr id="3" name="Picture 2" descr="real_vs_f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100 GAN-Generated Digits (Final Model)</a:t>
            </a:r>
          </a:p>
        </p:txBody>
      </p:sp>
      <p:pic>
        <p:nvPicPr>
          <p:cNvPr id="3" name="Picture 2" descr="final_generated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Latent Space Interpolation</a:t>
            </a:r>
          </a:p>
        </p:txBody>
      </p:sp>
      <p:pic>
        <p:nvPicPr>
          <p:cNvPr id="3" name="Picture 2" descr="latent_inter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0972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Interpolating between two random noise vectors z1 and z2 produces smooth transitions between digit types. This confirms the Generator has learned a structured, continuous latent space - not just memorising training examples.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Final metrics (Epoch 50):</a:t>
            </a:r>
          </a:p>
          <a:p>
            <a:pPr>
              <a:defRPr sz="1800"/>
            </a:pPr>
            <a:r>
              <a:t>  Generator Loss:      1.6571  (down from 3.02 at epoch 1)</a:t>
            </a:r>
          </a:p>
          <a:p>
            <a:pPr>
              <a:defRPr sz="1800"/>
            </a:pPr>
            <a:r>
              <a:t>  Discriminator Loss:  0.9320  (near log(2)=0.693 equilibrium)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Observations:</a:t>
            </a:r>
          </a:p>
          <a:p>
            <a:pPr>
              <a:defRPr sz="1800"/>
            </a:pPr>
            <a:r>
              <a:t>  - G_loss steadily decreasing -&gt; Generator improving each epoch</a:t>
            </a:r>
          </a:p>
          <a:p>
            <a:pPr>
              <a:defRPr sz="1800"/>
            </a:pPr>
            <a:r>
              <a:t>  - D_loss rising to ~0.93 -&gt; D and G approaching balance</a:t>
            </a:r>
          </a:p>
          <a:p>
            <a:pPr>
              <a:defRPr sz="1800"/>
            </a:pPr>
            <a:r>
              <a:t>  - Nash equilibrium: D*(x) = 0.5 (D cannot tell real from fake)</a:t>
            </a:r>
          </a:p>
          <a:p>
            <a:pPr>
              <a:defRPr sz="1800"/>
            </a:pPr>
            <a:r>
              <a:t>  - Visual quality improves clearly from epoch 1 to epoch 50</a:t>
            </a:r>
          </a:p>
          <a:p>
            <a:pPr>
              <a:defRPr sz="1800"/>
            </a:pPr>
            <a:r>
              <a:t>  - Latent interpolation shows smooth transitions between digits</a:t>
            </a:r>
          </a:p>
          <a:p>
            <a:pPr>
              <a:defRPr sz="1800"/>
            </a:pPr>
            <a:r>
              <a:t>  - Healthier training dynamics than a D-dominant GAN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Conclusion:</a:t>
            </a:r>
          </a:p>
          <a:p>
            <a:pPr>
              <a:defRPr sz="1800"/>
            </a:pPr>
            <a:r>
              <a:t>  - Fully-connected GAN trained on MNIST for 50 epochs on RTX 3050 GPU</a:t>
            </a:r>
          </a:p>
          <a:p>
            <a:pPr>
              <a:defRPr sz="1800"/>
            </a:pPr>
            <a:r>
              <a:t>  - Generator maps 64-dim noise to realistic 28x28 digit images</a:t>
            </a:r>
          </a:p>
          <a:p>
            <a:pPr>
              <a:defRPr sz="1800"/>
            </a:pPr>
            <a:r>
              <a:t>  - Adversarial training converged with balanced G/D dynamics</a:t>
            </a:r>
          </a:p>
          <a:p>
            <a:pPr>
              <a:defRPr sz="1800"/>
            </a:pPr>
            <a:r>
              <a:t>  - Latent interpolation confirmed structured representation learning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 Scope:</a:t>
            </a:r>
          </a:p>
          <a:p>
            <a:pPr>
              <a:defRPr sz="1800"/>
            </a:pPr>
            <a:r>
              <a:t>  - Conditional GAN (cGAN): generate specific digit on demand</a:t>
            </a:r>
          </a:p>
          <a:p>
            <a:pPr>
              <a:defRPr sz="1800"/>
            </a:pPr>
            <a:r>
              <a:t>  - Wasserstein GAN (WGAN): more stable training</a:t>
            </a:r>
          </a:p>
          <a:p>
            <a:pPr>
              <a:defRPr sz="1800"/>
            </a:pPr>
            <a:r>
              <a:t>  - FID Score: quantitative evaluation</a:t>
            </a:r>
          </a:p>
          <a:p>
            <a:pPr>
              <a:defRPr sz="1800"/>
            </a:pPr>
            <a:r>
              <a:t>  - Higher resolution generation with Progressive GAN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[1] Goodfellow et al. (2014). Generative Adversarial Nets. NeurIPS.</a:t>
            </a:r>
          </a:p>
          <a:p>
            <a:pPr>
              <a:defRPr sz="1800"/>
            </a:pPr>
            <a:r>
              <a:t>[2] Radford et al. (2015). DCGAN. arXiv:1511.06434.</a:t>
            </a:r>
          </a:p>
          <a:p>
            <a:pPr>
              <a:defRPr sz="1800"/>
            </a:pPr>
            <a:r>
              <a:t>[3] LeCun et al. (1998). The MNIST Database of Handwritten Digits.</a:t>
            </a:r>
          </a:p>
          <a:p>
            <a:pPr>
              <a:defRPr sz="1800"/>
            </a:pPr>
            <a:r>
              <a:t>[4] Salimans et al. (2016). Improved Techniques for Training GANs. NeurIPS.</a:t>
            </a:r>
          </a:p>
          <a:p>
            <a:pPr>
              <a:defRPr sz="1800"/>
            </a:pPr>
            <a:r>
              <a:t>[5] Arjovsky et al. (2017). Wasserstein GAN. arXiv:1701.07875.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